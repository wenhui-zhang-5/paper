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548640"/>
            <a:ext cx="4297680" cy="4297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4206240"/>
            <a:ext cx="2011680" cy="20116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722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62E4E"/>
                </a:solidFill>
                <a:latin typeface="Microsoft YaHei"/>
              </a:rPr>
              <a:t>AI Agent 平台在法务与 IP 场景中的应用实践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212848"/>
            <a:ext cx="6583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Microsoft YaHei"/>
              </a:rPr>
              <a:t>从文件处理、信息提取到场景化任务自动化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46276"/>
                </a:solidFill>
                <a:latin typeface="Microsoft YaHei"/>
              </a:rPr>
              <a:t>面向法务 / IP / 合规相关团队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234440"/>
            <a:ext cx="29718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399032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2E4E"/>
                </a:solidFill>
                <a:latin typeface="Microsoft YaHei"/>
              </a:rPr>
              <a:t>PDF / Word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1810512"/>
            <a:ext cx="0" cy="32004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12280" y="2194560"/>
            <a:ext cx="2971800" cy="59436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359152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2E4E"/>
                </a:solidFill>
                <a:latin typeface="Microsoft YaHei"/>
              </a:rPr>
              <a:t>AI 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2770632"/>
            <a:ext cx="0" cy="32004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12280" y="3154680"/>
            <a:ext cx="2971800" cy="594360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319272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2E4E"/>
                </a:solidFill>
                <a:latin typeface="Microsoft YaHei"/>
              </a:rPr>
              <a:t>Excel / PPT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3730752"/>
            <a:ext cx="0" cy="320039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4114800"/>
            <a:ext cx="2971800" cy="59436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279392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2E4E"/>
                </a:solidFill>
                <a:latin typeface="Microsoft YaHei"/>
              </a:rPr>
              <a:t>报告 / 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897880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数字化 AI 团队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为什么今天要讲 AI Agent？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从“回答问题”走向“完成任务”，让 AI 参与重复、规则清晰、信息量大的工作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0175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1508760"/>
            <a:ext cx="105156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59051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分析型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371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E4E"/>
                </a:solidFill>
                <a:latin typeface="Microsoft YaHei"/>
              </a:rPr>
              <a:t>会判断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46276"/>
                </a:solidFill>
                <a:latin typeface="Microsoft YaHei"/>
              </a:rPr>
              <a:t>OCR / 异常检测 / 推荐系统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1984248"/>
            <a:ext cx="36576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1960" y="1325880"/>
            <a:ext cx="30175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1508760"/>
            <a:ext cx="105156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559051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Microsoft YaHei"/>
              </a:rPr>
              <a:t>生成式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1371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E4E"/>
                </a:solidFill>
                <a:latin typeface="Microsoft YaHei"/>
              </a:rPr>
              <a:t>会表达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46276"/>
                </a:solidFill>
                <a:latin typeface="Microsoft YaHei"/>
              </a:rPr>
              <a:t>对话 / 写作 / 总结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1984248"/>
            <a:ext cx="36576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1325880"/>
            <a:ext cx="30175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5008" y="1508760"/>
            <a:ext cx="1051560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559051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  <a:latin typeface="Microsoft YaHei"/>
              </a:rPr>
              <a:t>Agentic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74519"/>
            <a:ext cx="1371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E4E"/>
                </a:solidFill>
                <a:latin typeface="Microsoft YaHei"/>
              </a:rPr>
              <a:t>会做事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21284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46276"/>
                </a:solidFill>
                <a:latin typeface="Microsoft YaHei"/>
              </a:rPr>
              <a:t>读文件 / 调工具 / 多步执行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62E4E"/>
                </a:solidFill>
                <a:latin typeface="Microsoft YaHei"/>
              </a:rPr>
              <a:t>生成式 AI vs Agentic AI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3401568"/>
          <a:ext cx="58064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</a:tblGrid>
              <a:tr h="429768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62E4E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63500" marR="63500" marT="38100" marB="381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62E4E"/>
                          </a:solidFill>
                          <a:latin typeface="Microsoft YaHei"/>
                        </a:defRPr>
                      </a:pPr>
                      <a:r>
                        <a:t>生成式 AI / Chat AI</a:t>
                      </a:r>
                    </a:p>
                  </a:txBody>
                  <a:tcPr marL="63500" marR="63500" marT="38100" marB="381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62E4E"/>
                          </a:solidFill>
                          <a:latin typeface="Microsoft YaHei"/>
                        </a:defRPr>
                      </a:pPr>
                      <a:r>
                        <a:t>Agentic AI</a:t>
                      </a:r>
                    </a:p>
                  </a:txBody>
                  <a:tcPr marL="63500" marR="63500" marT="38100" marB="38100">
                    <a:solidFill>
                      <a:srgbClr val="DBEA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交互方式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问一句，答一句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给目标，完成任务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63500" marR="63500" marT="38100" marB="381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文本问题为主</a:t>
                      </a:r>
                    </a:p>
                  </a:txBody>
                  <a:tcPr marL="63500" marR="63500" marT="38100" marB="381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文件、数据、任务目标</a:t>
                      </a:r>
                    </a:p>
                  </a:txBody>
                  <a:tcPr marL="63500" marR="63500" marT="38100" marB="38100">
                    <a:solidFill>
                      <a:srgbClr val="FAFC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文字回答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Excel、PPT、报告、清单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更像什么</a:t>
                      </a:r>
                    </a:p>
                  </a:txBody>
                  <a:tcPr marL="63500" marR="63500" marT="38100" marB="381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知识顾问</a:t>
                      </a:r>
                    </a:p>
                  </a:txBody>
                  <a:tcPr marL="63500" marR="63500" marT="38100" marB="381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546276"/>
                          </a:solidFill>
                          <a:latin typeface="Microsoft YaHei"/>
                        </a:defRPr>
                      </a:pPr>
                      <a:r>
                        <a:t>数字助手 / 初级执行者</a:t>
                      </a:r>
                    </a:p>
                  </a:txBody>
                  <a:tcPr marL="63500" marR="63500" marT="38100" marB="38100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720840" y="3273552"/>
            <a:ext cx="45720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1" y="3401568"/>
            <a:ext cx="424281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一个简单例子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1" y="3712464"/>
            <a:ext cx="4242816" cy="18928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Chat AI：请总结这份合同 → 输出一段文字总结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Agent AI：读取 10 份合同 → 提取字段 → 生成 Excel → 形成汇报 PPT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关键区别：Agent 的核心不是“回答”，而是“执行”。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我们的企业内网 AI 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当前聚焦：用户上传文件后的智能处理与结果生成；数据安全可控，但需要理解能力边界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07592"/>
            <a:ext cx="1737360" cy="6583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554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2E4E"/>
                </a:solidFill>
                <a:latin typeface="Microsoft YaHei"/>
              </a:rPr>
              <a:t>用户上传文件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1636776"/>
            <a:ext cx="338328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0632" y="1307592"/>
            <a:ext cx="1737360" cy="6583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490472"/>
            <a:ext cx="1554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2E4E"/>
                </a:solidFill>
                <a:latin typeface="Microsoft YaHei"/>
              </a:rPr>
              <a:t>个人工作空间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07992" y="1636776"/>
            <a:ext cx="338328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38344" y="1307592"/>
            <a:ext cx="1737360" cy="658368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490472"/>
            <a:ext cx="1554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2E4E"/>
                </a:solidFill>
                <a:latin typeface="Microsoft YaHei"/>
              </a:rPr>
              <a:t>AI Agent 理解任务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75704" y="1636776"/>
            <a:ext cx="338327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06055" y="1307592"/>
            <a:ext cx="1737360" cy="658368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490472"/>
            <a:ext cx="1554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2E4E"/>
                </a:solidFill>
                <a:latin typeface="Microsoft YaHei"/>
              </a:rPr>
              <a:t>调用工具能力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43416" y="1636776"/>
            <a:ext cx="338328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73768" y="1307592"/>
            <a:ext cx="1737360" cy="6583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490472"/>
            <a:ext cx="1554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2E4E"/>
                </a:solidFill>
                <a:latin typeface="Microsoft YaHei"/>
              </a:rPr>
              <a:t>生成结果文件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31720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E4E"/>
                </a:solidFill>
                <a:latin typeface="Microsoft YaHei"/>
              </a:rPr>
              <a:t>当前支持的典型任务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24912"/>
            <a:ext cx="33375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834640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阅读类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843784"/>
            <a:ext cx="21488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46276"/>
                </a:solidFill>
                <a:latin typeface="Microsoft YaHei"/>
              </a:rPr>
              <a:t>合同摘要、专利摘要、制度问答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724912"/>
            <a:ext cx="33375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834640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提取类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2843784"/>
            <a:ext cx="21488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46276"/>
                </a:solidFill>
                <a:latin typeface="Microsoft YaHei"/>
              </a:rPr>
              <a:t>签署方、期限、发明人、关键条款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724912"/>
            <a:ext cx="33375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5864" y="2834640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比较类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843784"/>
            <a:ext cx="21488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46276"/>
                </a:solidFill>
                <a:latin typeface="Microsoft YaHei"/>
              </a:rPr>
              <a:t>版本差异、条款变化、风险变化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593591"/>
            <a:ext cx="33375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3703320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整理类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712463"/>
            <a:ext cx="21488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46276"/>
                </a:solidFill>
                <a:latin typeface="Microsoft YaHei"/>
              </a:rPr>
              <a:t>批量汇总、Excel 台账、分类标签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3593591"/>
            <a:ext cx="33375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3703320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分析类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3712463"/>
            <a:ext cx="21488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46276"/>
                </a:solidFill>
                <a:latin typeface="Microsoft YaHei"/>
              </a:rPr>
              <a:t>趋势统计、风险分类、图表可视化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3593591"/>
            <a:ext cx="33375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55864" y="3703320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生成类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712463"/>
            <a:ext cx="21488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46276"/>
                </a:solidFill>
                <a:latin typeface="Microsoft YaHei"/>
              </a:rPr>
              <a:t>报告初稿、PPT、邮件草稿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681728"/>
            <a:ext cx="3474720" cy="105156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809744"/>
            <a:ext cx="31455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安全性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5120640"/>
            <a:ext cx="3145536" cy="521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公司内网部署；数据不出内网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用户文件在个人工作空间处理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默认不访问互联网，不跨用户文件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4681728"/>
            <a:ext cx="3474720" cy="10515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6552" y="4809744"/>
            <a:ext cx="31455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能力边界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2" y="5120640"/>
            <a:ext cx="3145536" cy="521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适合基于上传材料阅读、总结、提取、整理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不适合实时外部检索、最新法规/专利动态查询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4681728"/>
            <a:ext cx="3474720" cy="105156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65592" y="4809744"/>
            <a:ext cx="31455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AI 局限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592" y="5120640"/>
            <a:ext cx="3145536" cy="521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可能出现幻觉、遗漏或误解上下文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重要结论必须回到原文确认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AI 提供建议，人类负责决策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场景演示总览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每个案例都围绕真实工作流：业务场景 → Agent 方式 → 预期输出 → 价值与注意事项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41732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6761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138988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合同快速阅读与摘要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170992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从阅读全文到重点复核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41732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6761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38988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多版本合同差异比较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170992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从逐字检查到关注变化点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141732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46761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138988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批量合同信息提取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170992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从手工录入到自动台账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292608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97637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7864" y="289864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合同风险点初筛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7864" y="321868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第一轮风险雷达扫描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74320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07992" y="292608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297637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289864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专利 PDF 批量分析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6904" y="321868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先看全景，再读重点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74320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7031" y="292608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297637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95944" y="289864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制度文件问答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5944" y="321868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从找文件到问文件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25196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8952" y="443484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48513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7864" y="440740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Excel 数据分析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7864" y="472744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从做表到看结论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25196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07992" y="443484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7992" y="448513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440740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自动生成汇报 PPT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6904" y="472744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从制作 PPT 到修改 PPT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4251960"/>
            <a:ext cx="3291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57031" y="4434840"/>
            <a:ext cx="329184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7031" y="4485132"/>
            <a:ext cx="3291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5944" y="4407408"/>
            <a:ext cx="2514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E4E"/>
                </a:solidFill>
                <a:latin typeface="Microsoft YaHei"/>
              </a:rPr>
              <a:t>全能 Agent 端到端任务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95944" y="4727448"/>
            <a:ext cx="2514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46276"/>
                </a:solidFill>
                <a:latin typeface="Microsoft YaHei"/>
              </a:rPr>
              <a:t>多个步骤串起来完成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合同快速阅读与摘要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收到几十页 NDA、采购合同、License Agreement 或服务协议，需要快速了解核心内容。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通读全文并手动标记重点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复制整理到 Word/Excel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再做风险提示，耗时且易遗漏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上传合同文件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让 Agent 完成第一轮阅读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结构化输出重点条款与风险点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请阅读这份合同，并输出：</a:t>
            </a:r>
            <a:br/>
            <a:r>
              <a:t>1. 合同基本信息和双方主体</a:t>
            </a:r>
            <a:br/>
            <a:r>
              <a:t>2. 合同目的、期限、主要权利义务</a:t>
            </a:r>
            <a:br/>
            <a:r>
              <a:t>3. 保密义务、违约责任、终止条款</a:t>
            </a:r>
            <a:br/>
            <a:r>
              <a:t>4. 重点风险点和需人工复核的位置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合同摘要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关键条款清单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风险点列表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需人工复核的条款位置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从“阅读全文”变成“重点复核”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先获得结构化全貌，再把时间用于专业判断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适合作为第一轮阅读助手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不直接采纳 AI 的法律判断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关键条款需回到原文确认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重大合同仍需专业审查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多版本合同差异比较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客户或供应商返回修改版，需要快速判断改了什么，以及风险是否变化。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Word Compare + 人工逐条检查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多轮修改后容易疲劳和遗漏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重点条款需要再次人工归纳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 v1 与 v2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让 Agent 按法律关注点整理差异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输出风险变化和重点复核位置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请比较两个合同版本的差异，重点关注：</a:t>
            </a:r>
            <a:br/>
            <a:r>
              <a:t>新增/删除/修改条款、我方义务变化、赔偿责任变化、终止条件变化、保密义务变化、管辖法律或争议解决变化。</a:t>
            </a:r>
            <a:br/>
            <a:r>
              <a:t>请以表格输出风险等级和建议。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差异类型：新增 / 删除 / 修改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原版本 vs 新版本摘要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影响说明与风险等级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建议重点复核的位置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从“逐字检查”变成“关注变化点”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帮助快速定位高风险改动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适合多轮合同谈判场景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原始 redline 仍要保留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AI 结果用于辅助定位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最终条款审查仍由法务确认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批量合同信息提取与 Excel 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从多份合同中整理 NDA 台账、客户合同台账、供应商合同清单等。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逐份打开合同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查找签署方、日期、期限、保密期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手动复制到 Excel，重复且易错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上传多份合同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指定字段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Agent 提取并生成 Excel 汇总表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请读取这些合同文件，并生成 Excel 汇总表。字段包括：</a:t>
            </a:r>
            <a:br/>
            <a:r>
              <a:t>文件名、合同类型、合同双方、生效日期、到期日期、合同期限、保密期限、管辖法律、争议解决方式、自动续约、责任限制、备注和需人工确认信息。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Excel 台账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缺失字段标记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异常条款提示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可筛选统计字段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大量重复录入自动化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提升台账整理效率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让人把精力放在异常项和风险项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扫描版 PDF 质量会影响识别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字段缺失应标记“未找到”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不要让 AI 猜测不存在的信息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合同风险点初筛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对合同进行第一轮风险识别，重点关注责任承担、赔偿、保密、IP 归属等条款。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人工逐条阅读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根据经验判断风险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手动记录问题并输出审查意见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设定风险关注点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Agent 进行第一轮初筛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输出风险等级与建议处理方式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请对这份合同进行初步风险筛查，关注：</a:t>
            </a:r>
            <a:br/>
            <a:r>
              <a:t>责任限制、赔偿责任、保密义务、知识产权归属、违约责任、终止条件、单方不利条款。</a:t>
            </a:r>
            <a:br/>
            <a:r>
              <a:t>请以表格输出：条款位置、风险描述、风险等级、建议处理方式。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风险清单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条款位置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风险等级：高/中/低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建议处理方式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快速完成第一轮“风险雷达扫描”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帮助排序审查重点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让法务更快进入深度判断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不能替代正式法律意见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风险等级仅作初步排序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需结合业务背景和谈判策略判断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专利 PDF 批量分析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IP 团队需要阅读多篇专利，了解技术方向、发明人、关键词、申请时间、技术分布。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逐篇打开专利 PDF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手动提取 bibliographic 信息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阅读摘要和权利要求，再整理汇总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上传专利 PDF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批量提取字段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生成专利信息汇总和技术方向分类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请分析这些专利 PDF，并生成汇总表：</a:t>
            </a:r>
            <a:br/>
            <a:r>
              <a:t>专利标题、申请号/公开号、申请日期、申请人、发明人、技术关键词、技术方向、核心创新点摘要、主要权利要求概括、半导体相关应用方向、需进一步阅读的重点专利。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专利信息汇总表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技术关键词统计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技术方向分类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重点专利推荐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从“逐篇阅读”变成“先看结构化全景”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快速识别重点专利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可进一步生成分析 PPT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法律状态/同族/最新审查状态需专业数据库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当前内网平台不替代专利检索系统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权利要求解读需专业复核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制度文件问答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公司制度、IP 管理办法、合规手册、审批流程较长，用户常常不知道答案在哪一页。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打开制度文件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关键词搜索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翻阅上下文确认口径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再整理回答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上传制度文件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围绕文件内容直接提问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要求引用章节与依据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请基于我上传的制度文件回答：</a:t>
            </a:r>
            <a:br/>
            <a:r>
              <a:t>1. 专利申请流程是什么？</a:t>
            </a:r>
            <a:br/>
            <a:r>
              <a:t>2. 发明披露需要提交哪些材料？</a:t>
            </a:r>
            <a:br/>
            <a:r>
              <a:t>3. 审批责任人有哪些？</a:t>
            </a:r>
            <a:br/>
            <a:r>
              <a:t>4. 是否有奖励政策？</a:t>
            </a:r>
            <a:br/>
            <a:r>
              <a:t>5. 哪些情形需要特别审批？</a:t>
            </a:r>
            <a:br/>
            <a:r>
              <a:t>请尽量引用原文依据并标注章节。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问题答案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对应章节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原文依据摘要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流程步骤总结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从“找文件、翻文件”变成“问文件”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降低制度查询门槛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适合培训、答疑和流程说明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回答必须基于上传文件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文件没有依据时应说“未找到”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制度口径以正式文件为准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从 Excel 数据到分析结论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合同台账、专利清单、案件清单、费用清单等，需要统计和分析。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手动筛选 Excel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做透视表和图表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写分析结论，再复制到 PPT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 Excel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Agent 自动识别字段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完成统计、可视化和管理层结论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请分析这个 Excel 表格：</a:t>
            </a:r>
            <a:br/>
            <a:r>
              <a:t>1. 识别主要字段</a:t>
            </a:r>
            <a:br/>
            <a:r>
              <a:t>2. 按部门、年份、类型分类统计</a:t>
            </a:r>
            <a:br/>
            <a:r>
              <a:t>3. 找出异常值或缺失值</a:t>
            </a:r>
            <a:br/>
            <a:r>
              <a:t>4. 生成 3 个适合汇报的图表</a:t>
            </a:r>
            <a:br/>
            <a:r>
              <a:t>5. 输出管理层可读的分析结论和后续建议。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数据概览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分类统计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图表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异常数据提示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管理建议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从“做表”变成“看结论”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把数据处理和可视化前置自动化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适合月报/季度汇报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原始数据质量决定分析质量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统计结果应抽样核对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敏感口径需人工调整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自动生成汇报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法务/IP 需要制作周报、月报、专项汇报、项目进展汇报，很多时间花在结构整理和页面制作。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收集材料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整理逻辑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制作页面并反复调格式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上传材料或分析结果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Agent 生成 PPT 初稿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人工补充业务判断并美化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请基于上传的合同台账和分析结果，生成 6 页 PPT：</a:t>
            </a:r>
            <a:br/>
            <a:r>
              <a:t>1. 标题页</a:t>
            </a:r>
            <a:br/>
            <a:r>
              <a:t>2. 本月工作概览</a:t>
            </a:r>
            <a:br/>
            <a:r>
              <a:t>3. 重点数据统计</a:t>
            </a:r>
            <a:br/>
            <a:r>
              <a:t>4. 主要风险与问题</a:t>
            </a:r>
            <a:br/>
            <a:r>
              <a:t>5. 后续行动计划</a:t>
            </a:r>
            <a:br/>
            <a:r>
              <a:t>6. 总结页</a:t>
            </a:r>
            <a:br/>
            <a:r>
              <a:t>风格：简洁、正式、适合管理层汇报。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PPT 初稿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页面结构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图表和结论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可编辑的汇报材料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从“制作 PPT”变成“修改 PPT”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快速形成汇报骨架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减少格式和结构性工作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AI 生成的是初稿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需人工补充业务判断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对外材料需统一口径审核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全能 Agent：从文件到报告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实际工作常是多个步骤组合：阅读多份合同 → 提取信息 → 分析风险 → 生成汇报。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384048"/>
            <a:ext cx="132588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34340"/>
            <a:ext cx="132588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Case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传统方式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PDF、Word、Excel、PPT 多工具切换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步骤多、易遗漏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重复劳动占据大量时间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98448"/>
            <a:ext cx="23774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26464"/>
            <a:ext cx="2048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Agent 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2048256" cy="7955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给出目标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Agent 拆解任务并调用不同能力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阶段性输出 Excel、风险清单、PPT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298448"/>
            <a:ext cx="608076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1417319"/>
            <a:ext cx="5751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91639"/>
            <a:ext cx="5751576" cy="82295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请基于我上传的多份合同和 Excel 台账完成端到端任务：</a:t>
            </a:r>
            <a:br/>
            <a:r>
              <a:t>1. 阅读所有合同</a:t>
            </a:r>
            <a:br/>
            <a:r>
              <a:t>2. 提取关键字段并生成 Excel</a:t>
            </a:r>
            <a:br/>
            <a:r>
              <a:t>3. 识别高风险条款</a:t>
            </a:r>
            <a:br/>
            <a:r>
              <a:t>4. 按风险类型分类统计</a:t>
            </a:r>
            <a:br/>
            <a:r>
              <a:t>5. 生成 5 页 PPT 汇报</a:t>
            </a:r>
            <a:br/>
            <a:r>
              <a:t>6. 给出人工复核清单。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36118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预期输出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Excel 汇总表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风险分类结果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PPT 汇报材料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人工复核清单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07792"/>
            <a:ext cx="3611880" cy="23317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035808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业务价值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346704"/>
            <a:ext cx="328269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把多个步骤串起来完成任务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减少工具切换和重复复制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适合作为复杂工作流的“第一版产出”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07792"/>
            <a:ext cx="3566160" cy="233172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35808"/>
            <a:ext cx="3236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346704"/>
            <a:ext cx="3236976" cy="18013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任务越复杂，越需要分阶段确认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关键步骤建议人工检查后再继续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不要一次性要求最终法律结论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如何写一个好的 Prompt？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好的 Prompt 不是写得复杂，而是交代清楚任务、输出和边界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064240" cy="6858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0149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Microsoft YaHei"/>
              </a:rPr>
              <a:t>好 Prompt = 角色 + 任务 + 输入材料 + 输出格式 + 关注重点 + 限制条件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52578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368296"/>
            <a:ext cx="492861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不推荐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679192"/>
            <a:ext cx="4928616" cy="13441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“帮我看看这个合同。”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问题过于笼统；没有说明关注点、输出格式、风险标准或是否需要引用依据。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240280"/>
            <a:ext cx="5303520" cy="1874519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59152"/>
            <a:ext cx="497433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演示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633472"/>
            <a:ext cx="4974336" cy="13715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810">
                <a:solidFill>
                  <a:srgbClr val="1E293B"/>
                </a:solidFill>
                <a:latin typeface="Consolas"/>
              </a:defRPr>
            </a:pPr>
            <a:r>
              <a:t>请作为法务审阅助手，阅读我上传的合同。</a:t>
            </a:r>
            <a:br/>
            <a:r>
              <a:t>请输出：</a:t>
            </a:r>
            <a:br/>
            <a:r>
              <a:t>1. 合同摘要</a:t>
            </a:r>
            <a:br/>
            <a:r>
              <a:t>2. 关键条款</a:t>
            </a:r>
            <a:br/>
            <a:r>
              <a:t>3. 风险点</a:t>
            </a:r>
            <a:br/>
            <a:r>
              <a:t>4. 需要人工复核的位置</a:t>
            </a:r>
            <a:br/>
            <a:r>
              <a:t>请用表格形式输出，风险等级分为高/中/低。</a:t>
            </a:r>
            <a:br/>
            <a:r>
              <a:t>如果原文没有依据，请明确说明“文件中未找到”。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E4E"/>
                </a:solidFill>
                <a:latin typeface="Microsoft YaHei"/>
              </a:rPr>
              <a:t>使用技巧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19202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029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Microsoft YaHei"/>
              </a:rPr>
              <a:t>明确输出格式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276088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" b="0">
                <a:solidFill>
                  <a:srgbClr val="546276"/>
                </a:solidFill>
                <a:latin typeface="Microsoft YaHei"/>
              </a:rPr>
              <a:t>表格、清单、PPT结构、Excel字段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4892040"/>
            <a:ext cx="19202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0088" y="5029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Microsoft YaHei"/>
              </a:rPr>
              <a:t>明确关注点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5276088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" b="0">
                <a:solidFill>
                  <a:srgbClr val="546276"/>
                </a:solidFill>
                <a:latin typeface="Microsoft YaHei"/>
              </a:rPr>
              <a:t>责任、赔偿、保密、IP归属、期限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892040"/>
            <a:ext cx="19202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5029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Microsoft YaHei"/>
              </a:rPr>
              <a:t>要求标注依据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5276088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" b="0">
                <a:solidFill>
                  <a:srgbClr val="546276"/>
                </a:solidFill>
                <a:latin typeface="Microsoft YaHei"/>
              </a:rPr>
              <a:t>尽量引用章节、条款或原文位置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892040"/>
            <a:ext cx="19202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5029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Microsoft YaHei"/>
              </a:rPr>
              <a:t>不要猜测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5276088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" b="0">
                <a:solidFill>
                  <a:srgbClr val="546276"/>
                </a:solidFill>
                <a:latin typeface="Microsoft YaHei"/>
              </a:rPr>
              <a:t>找不到就说“未找到明确依据”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892040"/>
            <a:ext cx="19202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5029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Microsoft YaHei"/>
              </a:rPr>
              <a:t>分步骤处理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276088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" b="0">
                <a:solidFill>
                  <a:srgbClr val="546276"/>
                </a:solidFill>
                <a:latin typeface="Microsoft YaHei"/>
              </a:rPr>
              <a:t>复杂任务先提取，再分析，再生成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哪些任务适合先试？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建议从低风险、高重复、容易验证的任务开始，逐步沉淀自己的使用场景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434340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31455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优先尝试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3145536" cy="3813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长文档总结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合同条款提取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多文件汇总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Excel 数据分析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制度文件问答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PPT 初稿生成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34340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53895"/>
            <a:ext cx="31455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icrosoft YaHei"/>
              </a:rPr>
              <a:t>谨慎尝试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64792"/>
            <a:ext cx="3145536" cy="3813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复杂法律判断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高风险合同决策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对外正式法律意见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最新法规判断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专利法律状态判断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434340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453895"/>
            <a:ext cx="31455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不建议 AI 独立完成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764792"/>
            <a:ext cx="3145536" cy="3813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最终审批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最终法律意见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对外承诺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重大风险判断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涉及责任归属的决策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61888"/>
            <a:ext cx="9966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原则：AI 先做第一遍整理，人负责专业判断和最终决策。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62E4E"/>
                </a:solidFill>
                <a:latin typeface="Microsoft YaHei"/>
              </a:rPr>
              <a:t>AI + Human：新的协作方式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46276"/>
                </a:solidFill>
                <a:latin typeface="Microsoft YaHei"/>
              </a:rPr>
              <a:t>AI 不替代专业能力，而是放大专业能力；从一个小场景开始使用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98448"/>
            <a:ext cx="3383280" cy="283464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26464"/>
            <a:ext cx="30540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AI 更适合做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3054096" cy="23042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阅读大量文件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提取信息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整理表格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分类统计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初稿生成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格式转换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98448"/>
            <a:ext cx="338328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426464"/>
            <a:ext cx="30540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2E4E"/>
                </a:solidFill>
                <a:latin typeface="Microsoft YaHei"/>
              </a:rPr>
              <a:t>人更适合做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3054096" cy="23042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专业判断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风险取舍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沟通协商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责任承担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业务理解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最终决策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98448"/>
            <a:ext cx="2788920" cy="283464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426464"/>
            <a:ext cx="24597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Start 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737360"/>
            <a:ext cx="2459736" cy="23042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上传一个文件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提出一个具体问题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检查 AI 输出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00">
                <a:solidFill>
                  <a:srgbClr val="546276"/>
                </a:solidFill>
                <a:latin typeface="Microsoft YaHei"/>
              </a:defRPr>
            </a:pPr>
            <a:r>
              <a:t>沉淀自己的使用场景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icrosoft YaHei"/>
              </a:rPr>
              <a:t>AI 做第一遍整理，人做最终判断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074920"/>
            <a:ext cx="104698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30952"/>
            <a:ext cx="10058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46276"/>
                </a:solidFill>
                <a:latin typeface="Microsoft YaHei"/>
              </a:rPr>
              <a:t>培训后可以立刻尝试：上传一份制度文件问 3 个问题；上传一份合同提取关键条款；上传一个 Excel 做一页分析；上传材料生成 PPT 初稿。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614476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2E4E"/>
                </a:solidFill>
                <a:latin typeface="Microsoft YaHei"/>
              </a:rPr>
              <a:t>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88496"/>
                </a:solidFill>
                <a:latin typeface="Microsoft YaHei"/>
              </a:rPr>
              <a:t>数字化 AI 团队 · AI Agent 法务/IP 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9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88496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