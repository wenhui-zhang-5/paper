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4389120" cy="43891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12880" y="914400"/>
            <a:ext cx="2651760" cy="2651760"/>
          </a:xfrm>
          <a:prstGeom prst="ellipse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FCA"/>
                </a:solidFill>
                <a:latin typeface="Microsoft YaHei"/>
              </a:rPr>
              <a:t>AI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63056"/>
                </a:solidFill>
                <a:latin typeface="Microsoft YaHei"/>
              </a:rPr>
              <a:t>在法务与 IP 场景中的
应用实践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8229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5866"/>
                </a:solidFill>
                <a:latin typeface="Microsoft YaHei"/>
              </a:rPr>
              <a:t>从文件处理、信息提取到场景化任务自动化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743200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41080" y="3310128"/>
            <a:ext cx="1234440" cy="9875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128" y="3429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226FCA"/>
                </a:solidFill>
                <a:latin typeface="Microsoft YaHe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384048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42D3A"/>
                </a:solidFill>
                <a:latin typeface="Microsoft YaHei"/>
              </a:rPr>
              <a:t>上传文件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02951" y="3803904"/>
            <a:ext cx="274321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0104119" y="3739896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68711" y="3310128"/>
            <a:ext cx="1234440" cy="9875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59" y="3429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226FCA"/>
                </a:solidFill>
                <a:latin typeface="Microsoft YaHe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0151" y="384048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42D3A"/>
                </a:solidFill>
                <a:latin typeface="Microsoft YaHei"/>
              </a:rPr>
              <a:t>AI Agent处理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30584" y="3803904"/>
            <a:ext cx="274319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11731751" y="3739896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896344" y="3310128"/>
            <a:ext cx="1234440" cy="9875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80392" y="3429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226FCA"/>
                </a:solidFill>
                <a:latin typeface="Microsoft YaHe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87784" y="384048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42D3A"/>
                </a:solidFill>
                <a:latin typeface="Microsoft YaHei"/>
              </a:rPr>
              <a:t>结果输出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5866"/>
                </a:solidFill>
                <a:latin typeface="Microsoft YaHei"/>
              </a:rPr>
              <a:t>面向：法务 / IP / 合规 / 合同管理相关团队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629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5866"/>
                </a:solidFill>
                <a:latin typeface="Microsoft YaHei"/>
              </a:rPr>
              <a:t>数字化 AI 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为什么今天要讲 AI Agent？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AI 正在从“回答问题”走向“完成任务”，这会改变知识工作的处理方式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154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15468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1"/>
            <a:ext cx="2441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工作中的重复劳动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阅读大量合同、专利、制度文件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提取关键信息并整理成表格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对比多个版本或多份材料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基于材料生成报告 / PPT 初稿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8620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886200"/>
            <a:ext cx="315468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0873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50791"/>
            <a:ext cx="2441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可介入的环节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0799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快速阅读与摘要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结构化信息提取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批量整理与分类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辅助分析与初稿生成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508760"/>
            <a:ext cx="9921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73736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056"/>
                </a:solidFill>
                <a:latin typeface="Microsoft YaHei"/>
              </a:rPr>
              <a:t>AI 的演进：从会分析，到会说，再到会做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331720"/>
            <a:ext cx="1234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6FCA"/>
                </a:solidFill>
                <a:latin typeface="Microsoft YaHei"/>
              </a:rPr>
              <a:t>分析型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432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会判断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0906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4F5866"/>
                </a:solidFill>
                <a:latin typeface="Microsoft YaHei"/>
              </a:rPr>
              <a:t>分类 / 预测 / OCR / 异常检测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2770632"/>
            <a:ext cx="457200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281928" y="2706624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2331720"/>
            <a:ext cx="1234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9BD5"/>
                </a:solidFill>
                <a:latin typeface="Microsoft YaHei"/>
              </a:rPr>
              <a:t>生成式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9BD5"/>
                </a:solidFill>
                <a:latin typeface="Microsoft YaHei"/>
              </a:rPr>
              <a:t>会表达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0906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4F5866"/>
                </a:solidFill>
                <a:latin typeface="Microsoft YaHei"/>
              </a:rPr>
              <a:t>对话 / 写作 / 总结 / 翻译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9680" y="2770632"/>
            <a:ext cx="457200" cy="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253728" y="2706624"/>
            <a:ext cx="137160" cy="128016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24160" y="2331720"/>
            <a:ext cx="1234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966A"/>
                </a:solidFill>
                <a:latin typeface="Microsoft YaHei"/>
              </a:rPr>
              <a:t>Agentic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432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会做事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0906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4F5866"/>
                </a:solidFill>
                <a:latin typeface="Microsoft YaHei"/>
              </a:rPr>
              <a:t>读取文件 / 调用工具 / 多步执行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3886200"/>
            <a:ext cx="4800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9720" y="3886200"/>
            <a:ext cx="4800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133087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056"/>
                </a:solidFill>
                <a:latin typeface="Microsoft YaHei"/>
              </a:rPr>
              <a:t>生成式 AI / Chat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133087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056"/>
                </a:solidFill>
                <a:latin typeface="Microsoft YaHei"/>
              </a:rPr>
              <a:t>Agentic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553712"/>
            <a:ext cx="3840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问一句，答一句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输入以文本问题为主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输出多为文字回答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更像知识顾问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553712"/>
            <a:ext cx="39776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给目标，完成任务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输入可以是文件、数据、任务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输出可以是 Excel / PPT / 报告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更像数字助手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6446520"/>
            <a:ext cx="9921240" cy="65836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6601968"/>
            <a:ext cx="9464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Chat AI 的核心是“回答”；Agent AI 的核心是“执行”。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我们的平台：企业内网 AI Agent 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当前聚焦：用户上传文件后的智能处理与结果生成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355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056"/>
                </a:solidFill>
                <a:latin typeface="Microsoft YaHei"/>
              </a:rPr>
              <a:t>平台工作流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005840" cy="6583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2219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26FCA"/>
                </a:solidFill>
                <a:latin typeface="Microsoft YaHei"/>
              </a:rPr>
              <a:t>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523744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242D3A"/>
                </a:solidFill>
                <a:latin typeface="Microsoft YaHei"/>
              </a:rPr>
              <a:t>上传文件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2468880"/>
            <a:ext cx="246887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075687" y="240487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2148840"/>
            <a:ext cx="1005840" cy="6583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2219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26FCA"/>
                </a:solidFill>
                <a:latin typeface="Microsoft YaHe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864" y="2523744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242D3A"/>
                </a:solidFill>
                <a:latin typeface="Microsoft YaHei"/>
              </a:rPr>
              <a:t>个人工作空间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9272" y="2468880"/>
            <a:ext cx="246888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3493008" y="240487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2148840"/>
            <a:ext cx="1005840" cy="6583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22219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26FCA"/>
                </a:solidFill>
                <a:latin typeface="Microsoft YaHe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2523744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242D3A"/>
                </a:solidFill>
                <a:latin typeface="Microsoft YaHei"/>
              </a:rPr>
              <a:t>Agent理解任务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36592" y="2468880"/>
            <a:ext cx="246887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910327" y="240487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2148840"/>
            <a:ext cx="1005840" cy="6583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22219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26FCA"/>
                </a:solidFill>
                <a:latin typeface="Microsoft YaHei"/>
              </a:rPr>
              <a:t>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523744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242D3A"/>
                </a:solidFill>
                <a:latin typeface="Microsoft YaHei"/>
              </a:rPr>
              <a:t>生成结果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417320"/>
            <a:ext cx="6858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6276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056"/>
                </a:solidFill>
                <a:latin typeface="Microsoft YaHei"/>
              </a:rPr>
              <a:t>当前支持的典型任务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084831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1579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阅读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15798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合同/专利摘要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084831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1579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提取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15798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期限/主体/条款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67160" y="2084831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21579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0" y="215798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版本/条款差异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651760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27249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整理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724912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批量汇总Excel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2651760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27249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724912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统计/图表/结论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67160" y="2651760"/>
            <a:ext cx="178308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58600" y="27249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226FCA"/>
                </a:solidFill>
                <a:latin typeface="Microsoft YaHei"/>
              </a:rPr>
              <a:t>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0" y="2724912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4F5866"/>
                </a:solidFill>
                <a:latin typeface="Microsoft YaHei"/>
              </a:rPr>
              <a:t>报告/PPT初稿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37033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3056"/>
                </a:solidFill>
                <a:latin typeface="Microsoft YaHei"/>
              </a:rPr>
              <a:t>安全边界与能力边界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160520"/>
            <a:ext cx="4160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1605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43616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43251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安全性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782312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部署于公司内网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文件在个人工作空间处理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数据不出内网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默认不访问互联网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4160520"/>
            <a:ext cx="4160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74920" y="4160520"/>
            <a:ext cx="416052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9512" y="43616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59" y="43251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适合做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782312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读取上传文件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总结已有内容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提取关键信息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整理表格并生成初稿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5480" y="4160520"/>
            <a:ext cx="4160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55480" y="41605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0072" y="43616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19" y="43251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不适合直接做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4782312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实时外部信息查询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查询最新法规/专利动态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无依据地给最终法律意见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替代专业审批和判断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6720840"/>
            <a:ext cx="13441680" cy="64008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6876288"/>
            <a:ext cx="1298448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3056"/>
                </a:solidFill>
                <a:latin typeface="Microsoft YaHei"/>
              </a:rPr>
              <a:t>AI 提供建议，人类负责决策；重要结论必须回到原文确认。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场景演示：从文件处理到任务自动化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案例不是展示某个单一功能，而是展示法务/IP工作流中可落地的使用方式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013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232" y="17739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合同快速阅读与摘要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45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从阅读全文变成重点复核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6002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18013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739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多版本合同差异比较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1945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从逐字检查变成关注变化点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6002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12680" y="18013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17739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批量合同信息提取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0968" y="21945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从手工录入变成自动台账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4015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33741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合同风险点初筛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947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从经验排查变成风险雷达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2004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34015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3741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专利 PDF 批量分析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7947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从逐篇阅读变成结构化全景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32004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34015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0232" y="33741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制度文件问答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37947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从找文件变成问文件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006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50017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6232" y="49743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Excel 数据分析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3949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从做表变成看结论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48006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40680" y="50017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9743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自动生成汇报 PPT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53949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从制作PPT变成修改PPT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4800600"/>
            <a:ext cx="41605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12680" y="5001768"/>
            <a:ext cx="841248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Case 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0232" y="497433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63056"/>
                </a:solidFill>
                <a:latin typeface="Microsoft YaHei"/>
              </a:rPr>
              <a:t>全能 Agent 端到端任务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0968" y="53949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F5866"/>
                </a:solidFill>
                <a:latin typeface="Microsoft YaHei"/>
              </a:rPr>
              <a:t>把多个步骤串起来完成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6720840"/>
            <a:ext cx="13258800" cy="5669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876288"/>
            <a:ext cx="1280160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建议演示时强调：AI 先做第一遍整理，人再做专业判断。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1：合同快速阅读与摘要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业务场景：收到几十页 NDA、采购合同、License Agreement 或服务协议，需要快速了解核心内容。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通读全文并标记重点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手动整理关键条款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再形成风险提示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耗时且容易遗漏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上传合同文件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让 Agent 完成第一轮阅读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按固定结构输出摘要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人工重点复核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合同摘要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关键条款清单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风险点列表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人工复核位置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请阅读这份合同，并按照以下结构输出：
1. 合同基本信息
2. 双方主体
3. 合同目的与期限
4. 双方主要权利义务
5. 保密义务、违约责任、终止条款
6. 需要重点关注的风险点
7. 建议人工复核的条款位置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从“阅读全文”变成“重点复核”。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不直接采纳 AI 法律判断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重大合同仍需专业审查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2：多版本合同差异比较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业务场景：客户或供应商返回修改版，需要快速判断对方改了什么，以及是否带来风险。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Word Compare 后逐条查看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多轮修订容易疲劳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重点条款需要反复定位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风险变化不易系统整理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 v1 与 v2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按法务关注点整理差异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输出差异表与风险等级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人工聚焦关键变化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9BD5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差异类型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原版本 / 新版本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影响说明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风险等级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处理建议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请比较这两个合同版本的差异，并重点关注：
1. 新增、删除、修改条款
2. 对我方义务的变化
3. 赔偿责任、终止条件、保密义务变化
4. 管辖法律或争议解决变化
5. 风险等级评估
6. 建议重点复核的位置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从“逐字检查”变成“关注变化点和风险变化”。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原始修订痕迹仍需保留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AI 用于辅助定位，不替代 redline 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3：批量合同信息提取与 Excel 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业务场景：需要从多份合同中整理 NDA 台账、客户合同台账、供应商合同清单。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逐份打开合同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查找签署方、日期、期限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手动复制到 Excel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重复、耗时、容易错填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上传多份合同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指定字段并批量提取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生成 Excel 台账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标记缺失/需确认信息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Excel 台账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缺失字段标记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异常条款提示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可筛选统计字段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请读取这些合同文件，并生成一份 Excel 汇总表。
字段包括：
1. 文件名、合同类型、合同双方
2. 生效日期、到期日期、合同期限
3. 保密期限、管辖法律、争议解决方式
4. 是否包含自动续约条款
5. 是否包含责任限制条款
6. 备注和需要人工确认的信息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将大量重复录入工作自动化，提升台账整理效率。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扫描版 PDF 会影响识别质量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字段缺失时应标记“未找到”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4：合同风险点初筛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业务场景：对合同进行第一轮风险识别，关注责任承担、赔偿、保密、IP归属等关键条款。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人工逐条阅读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依赖经验判断风险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手动记录审查意见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难以快速形成风险清单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基于预设关注点初筛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输出风险表格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按高/中/低排序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人工复核高风险条款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条款位置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风险描述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风险等级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建议处理方式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请对这份合同进行初步风险筛查，重点关注：
1. 责任限制是否合理
2. 赔偿责任是否过重
3. 保密义务是否过宽或期限过长
4. 知识产权归属是否清晰
5. 违约责任是否对等
6. 终止条件是否合理
7. 是否存在单方不利条款
请以表格输出：条款位置、风险描述、风险等级、建议处理方式。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帮助法务快速完成第一轮“风险雷达扫描”。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不能替代正式法律意见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风险等级仅用于初步排序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5：专利 PDF 批量分析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业务场景：IP 团队需要阅读多篇专利文档，了解技术方向、发明人、关键词和申请时间。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逐篇打开专利 PDF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手动提取 bibliographic 信息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阅读摘要和权利要求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再整理技术分类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上传专利 PDF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批量提取信息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结构化整理技术方向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生成汇总表与分析材料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专利信息汇总表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技术关键词统计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技术方向分类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重点专利推荐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请分析这些专利 PDF，并生成一份汇总表，包括：
1. 专利标题、申请号/公开号、申请日期
2. 申请人、发明人
3. 技术关键词、技术方向
4. 核心创新点摘要
5. 主要权利要求概括
6. 与半导体相关的应用方向
7. 需要人工进一步阅读的重点专利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从“逐篇阅读专利”变成“先看结构化全景，再深入重点文档”。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法律状态/同族/最新动态需专业数据库支持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内网平台不替代专利检索系统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6：制度文件问答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业务场景：内部制度、IP 管理办法、合规手册、合同审批流程较长，答案常常不好找。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打开制度文件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关键词搜索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翻阅前后文确认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再整理成统一口径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上传制度文件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围绕文件内容提问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要求引用章节依据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输出流程化答案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9BD5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问题答案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对应章节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原文依据摘要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9BD5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流程步骤总结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请基于我上传的制度文件回答以下问题：
1. 专利申请的流程是什么？
2. 发明披露需要提交哪些材料？
3. 审批责任人有哪些？
4. 是否有奖励政策？
5. 哪些情形需要特别审批？
回答时请尽量引用原文依据，并标注对应章节。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从“找文件、翻文件”变成“问文件”。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回答必须基于上传文件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没有依据时应输出“文件中未找到”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7：从 Excel 数据到分析结论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业务场景：合同台账、专利清单、案件清单、费用清单等需要统计、分析和汇报。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手动筛选 Excel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建立透视表和图表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写分析结论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复制到 PPT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 Excel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自动识别字段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完成统计与可视化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输出管理层可读结论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数据概览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分类统计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图表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异常数据提示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分析结论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请分析这个 Excel 表格，完成以下任务：
1. 识别主要字段
2. 统计合同/专利/案件数量
3. 按部门、年份、类型分类统计
4. 找出异常值或缺失值
5. 生成 3 个适合汇报的图表
6. 输出一段管理层可读的分析结论
7. 给出后续管理建议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从“做表”变成“看结论”。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原始数据质量会影响结果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重要统计结果应抽样核对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8：自动生成汇报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业务场景：法务/IP 经常需要制作周报、月报、专项汇报、项目进展汇报。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收集材料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整理逻辑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制作页面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调整格式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反复修改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上传材料或分析结果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指定页数和受众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生成 PPT 初稿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人工优化口径与细节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PPT 初稿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页面结构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图表和结论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可继续人工美化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请基于我上传的合同台账和分析结果，生成一份 6 页 PPT 汇报材料。
页面结构建议：
1. 标题页
2. 本月合同/IP工作概览
3. 重点数据统计
4. 主要风险与问题
5. 后续行动计划
6. 总结页
风格要求：简洁、正式、适合管理层汇报。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从“制作 PPT”变成“修改 PPT”。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AI 生成的是初稿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需要人工补充业务判断和表达口径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Case 9：全能 Agent：从文件到报告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业务场景：真实工作往往是多步骤组合：阅读文件 → 提取信息 → 分析风险 → 生成汇报。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传统方式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PDF、Word、Excel、PPT 来回切换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多个步骤人工串联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中间结果容易丢失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耗时且难复用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17320"/>
            <a:ext cx="4160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3911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给出明确目标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Agent 拆解任务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调用不同工具能力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输出多个结果文件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417320"/>
            <a:ext cx="4434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2600" y="1417320"/>
            <a:ext cx="4434840" cy="54864"/>
          </a:xfrm>
          <a:prstGeom prst="rect">
            <a:avLst/>
          </a:prstGeom>
          <a:solidFill>
            <a:srgbClr val="16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6184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3056"/>
                </a:solidFill>
                <a:latin typeface="Microsoft YaHei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581912"/>
            <a:ext cx="3721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预期输出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39112"/>
            <a:ext cx="4023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63056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Excel 汇总表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3056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风险分类结果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3056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PPT 汇报材料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3056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人工复核清单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74066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666744"/>
            <a:ext cx="1051560" cy="256032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E5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6FCA"/>
                </a:solidFill>
                <a:latin typeface="Microsoft YaHei"/>
              </a:rPr>
              <a:t>演示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23360"/>
            <a:ext cx="6995159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42D3A"/>
                </a:solidFill>
                <a:latin typeface="Microsoft YaHei"/>
              </a:rPr>
              <a:t>请基于我上传的多份合同和 Excel 台账，完成一个端到端分析任务：
1. 阅读所有合同
2. 提取关键字段
3. 生成合同信息 Excel 汇总表
4. 识别高风险条款
5. 按风险类型进行分类统计
6. 生成一份 5 页 PPT 汇报材料
7. 给出需要人工复核的清单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20440"/>
            <a:ext cx="5532120" cy="1024128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6941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3056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5079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6FCA"/>
                </a:solidFill>
                <a:latin typeface="Microsoft YaHei"/>
              </a:rPr>
              <a:t>Agent 的核心价值是把多个步骤串起来完成任务。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754880"/>
            <a:ext cx="5532120" cy="12801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D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1947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5519"/>
                </a:solidFill>
                <a:latin typeface="Microsoft YaHei"/>
              </a:rPr>
              <a:t>注意事项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任务越复杂，越需要分阶段确认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919">
                <a:solidFill>
                  <a:srgbClr val="78502D"/>
                </a:solidFill>
                <a:latin typeface="Microsoft YaHei"/>
              </a:rPr>
              <a:t>关键步骤建议人工检查后再继续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如何让 Agent 更好地完成任务？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好的 Prompt 不是写得复杂，而是交代清楚任务、输入、输出和边界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3258800" cy="77724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1261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3056"/>
                </a:solidFill>
                <a:latin typeface="Microsoft YaHei"/>
              </a:rPr>
              <a:t>好 Prompt = 角色 + 任务 + 输入材料 + 输出格式 + 关注重点 + 限制条件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6309360" cy="32004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F5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C4E4E"/>
                </a:solidFill>
                <a:latin typeface="Microsoft YaHei"/>
              </a:rPr>
              <a:t>不推荐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42D3A"/>
                </a:solidFill>
                <a:latin typeface="Microsoft YaHei"/>
              </a:rPr>
              <a:t>“帮我看看这个合同。”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300">
                <a:solidFill>
                  <a:srgbClr val="4F5866"/>
                </a:solidFill>
                <a:latin typeface="Microsoft YaHei"/>
              </a:rPr>
              <a:t>任务不明确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300">
                <a:solidFill>
                  <a:srgbClr val="4F5866"/>
                </a:solidFill>
                <a:latin typeface="Microsoft YaHei"/>
              </a:rPr>
              <a:t>输出格式不明确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300">
                <a:solidFill>
                  <a:srgbClr val="4F5866"/>
                </a:solidFill>
                <a:latin typeface="Microsoft YaHei"/>
              </a:rPr>
              <a:t>关注重点不明确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300">
                <a:solidFill>
                  <a:srgbClr val="4F5866"/>
                </a:solidFill>
                <a:latin typeface="Microsoft YaHei"/>
              </a:rPr>
              <a:t>AI 容易泛泛而谈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514600"/>
            <a:ext cx="6537960" cy="320040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BE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7889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966A"/>
                </a:solidFill>
                <a:latin typeface="Microsoft YaHei"/>
              </a:rPr>
              <a:t>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182112"/>
            <a:ext cx="5806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2D3A"/>
                </a:solidFill>
                <a:latin typeface="Microsoft YaHei"/>
              </a:rPr>
              <a:t>“请作为法务审阅助手，阅读我上传的合同。请输出合同摘要、关键条款、风险点和需人工复核的位置；用表格形式输出，风险等级分为高/中/低；如果原文没有依据，请明确说明。”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617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200">
                <a:solidFill>
                  <a:srgbClr val="4F5866"/>
                </a:solidFill>
                <a:latin typeface="Microsoft YaHei"/>
              </a:rPr>
              <a:t>明确角色和任务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200">
                <a:solidFill>
                  <a:srgbClr val="4F5866"/>
                </a:solidFill>
                <a:latin typeface="Microsoft YaHei"/>
              </a:rPr>
              <a:t>明确输出结构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200">
                <a:solidFill>
                  <a:srgbClr val="4F5866"/>
                </a:solidFill>
                <a:latin typeface="Microsoft YaHei"/>
              </a:rPr>
              <a:t>要求标注依据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200">
                <a:solidFill>
                  <a:srgbClr val="4F5866"/>
                </a:solidFill>
                <a:latin typeface="Microsoft YaHei"/>
              </a:rPr>
              <a:t>要求不要猜测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080760"/>
            <a:ext cx="1325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080760"/>
            <a:ext cx="1325880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62819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6245352"/>
            <a:ext cx="12545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使用技巧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702552"/>
            <a:ext cx="128473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复杂任务分步骤处理：先提取、再分析、最后生成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要求输出表格或清单，便于复核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要求标注原文依据或章节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结果不满意时，追加约束和示例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哪些任务适合先试？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先从低风险、高重复、容易验证的工作开始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4160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416052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5564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优先尝试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74903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长文档总结、合同条款提取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多文件汇总、Excel 数据分析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制度文件问答、PPT 初稿生成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554480"/>
            <a:ext cx="4160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1554480"/>
            <a:ext cx="4160520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175564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71907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谨慎尝试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76272"/>
            <a:ext cx="374903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复杂法律判断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高风险合同决策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最新法律法规判断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专利法律状态判断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554480"/>
            <a:ext cx="4160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29800" y="1554480"/>
            <a:ext cx="4160520" cy="54864"/>
          </a:xfrm>
          <a:prstGeom prst="rect">
            <a:avLst/>
          </a:prstGeom>
          <a:solidFill>
            <a:srgbClr val="CC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175564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C4E4E"/>
                </a:solidFill>
                <a:latin typeface="Microsoft YaHei"/>
              </a:rPr>
              <a:t>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719072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不建议直接交给 AI 独立完成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176272"/>
            <a:ext cx="374903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最终审批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最终法律意见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对外承诺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重大风险判断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CC4E4E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涉及责任归属的决策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6446520"/>
            <a:ext cx="13304520" cy="68580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601968"/>
            <a:ext cx="1284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3056"/>
                </a:solidFill>
                <a:latin typeface="Microsoft YaHei"/>
              </a:rPr>
              <a:t>判断一个任务是否适合 Agent：重复性强、信息量大、规则相对清晰、结果容易人工验证。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AI + Human：新的协作方式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AI 不替代专业能力，而是放大专业能力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4937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08760"/>
            <a:ext cx="4937760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099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73351"/>
            <a:ext cx="4224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AI 更适合做第一遍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30552"/>
            <a:ext cx="45262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阅读大量文件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提取信息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整理表格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分类统计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初稿生成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格式转换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08760"/>
            <a:ext cx="4937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1508760"/>
            <a:ext cx="4937760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7099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673351"/>
            <a:ext cx="4224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人更适合做最终判断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130552"/>
            <a:ext cx="45262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专业判断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风险取舍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沟通协商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责任承担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业务理解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最终决策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77440"/>
            <a:ext cx="2240280" cy="155448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688336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3056"/>
                </a:solidFill>
                <a:latin typeface="Microsoft YaHei"/>
              </a:rPr>
              <a:t>Human
in the Loop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3154680"/>
            <a:ext cx="338328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071616" y="309067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439912" y="3154680"/>
            <a:ext cx="320040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686800" y="309067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6492240"/>
            <a:ext cx="12893040" cy="64008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647688"/>
            <a:ext cx="1243584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3056"/>
                </a:solidFill>
                <a:latin typeface="Microsoft YaHei"/>
              </a:rPr>
              <a:t>AI 做第一遍整理，人做最终判断。AI 提供建议，人类负责决策。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056"/>
                </a:solidFill>
                <a:latin typeface="Microsoft YaHei"/>
              </a:rPr>
              <a:t>Start Small：从一个文件开始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F5866"/>
                </a:solidFill>
                <a:latin typeface="Microsoft YaHei"/>
              </a:rPr>
              <a:t>不需要一次改变所有工作方式，从一个重复、耗时、容易验证的小任务开始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05840" cy="45720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834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93391" y="2057400"/>
            <a:ext cx="594360" cy="594360"/>
          </a:xfrm>
          <a:prstGeom prst="ellips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9696" y="2176272"/>
            <a:ext cx="3017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816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3056"/>
                </a:solidFill>
                <a:latin typeface="Microsoft YaHei"/>
              </a:rPr>
              <a:t>上传一个文件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2461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4F5866"/>
                </a:solidFill>
                <a:latin typeface="Microsoft YaHei"/>
              </a:rPr>
              <a:t>合同 / 专利 / 制度 / Excel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9896" y="2880360"/>
            <a:ext cx="329184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995928" y="281635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2834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0952" y="2057400"/>
            <a:ext cx="594360" cy="594360"/>
          </a:xfrm>
          <a:prstGeom prst="ellips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7255" y="2176272"/>
            <a:ext cx="3017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816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3056"/>
                </a:solidFill>
                <a:latin typeface="Microsoft YaHei"/>
              </a:rPr>
              <a:t>提出一个具体问题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2461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4F5866"/>
                </a:solidFill>
                <a:latin typeface="Microsoft YaHei"/>
              </a:rPr>
              <a:t>越具体，结果越可控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880360"/>
            <a:ext cx="329184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333488" y="281635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1828800"/>
            <a:ext cx="2834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68512" y="2057400"/>
            <a:ext cx="594360" cy="594360"/>
          </a:xfrm>
          <a:prstGeom prst="ellips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2176272"/>
            <a:ext cx="3017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816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3056"/>
                </a:solidFill>
                <a:latin typeface="Microsoft YaHei"/>
              </a:rPr>
              <a:t>检查 AI 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2461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4F5866"/>
                </a:solidFill>
                <a:latin typeface="Microsoft YaHei"/>
              </a:rPr>
              <a:t>回到原文和数据核对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15016" y="2880360"/>
            <a:ext cx="329184" cy="0"/>
          </a:xfrm>
          <a:prstGeom prst="line">
            <a:avLst/>
          </a:prstGeom>
          <a:ln w="25400">
            <a:solidFill>
              <a:srgbClr val="226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10671048" y="2816352"/>
            <a:ext cx="137160" cy="128016"/>
          </a:xfrm>
          <a:prstGeom prst="triangl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59" y="1828800"/>
            <a:ext cx="2834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006072" y="2057400"/>
            <a:ext cx="594360" cy="594360"/>
          </a:xfrm>
          <a:prstGeom prst="ellipse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52376" y="2176272"/>
            <a:ext cx="3017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7391" y="2816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3056"/>
                </a:solidFill>
                <a:latin typeface="Microsoft YaHei"/>
              </a:rPr>
              <a:t>沉淀使用场景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399" y="32461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4F5866"/>
                </a:solidFill>
                <a:latin typeface="Microsoft YaHei"/>
              </a:rPr>
              <a:t>形成可复用 Prompt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709160"/>
            <a:ext cx="12618720" cy="137160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056"/>
                </a:solidFill>
                <a:latin typeface="Microsoft YaHei"/>
              </a:rPr>
              <a:t>今天培训后可以立刻尝试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3492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150">
                <a:solidFill>
                  <a:srgbClr val="4F5866"/>
                </a:solidFill>
                <a:latin typeface="Microsoft YaHei"/>
              </a:rPr>
              <a:t>上传一份制度文件，问 3 个问题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150">
                <a:solidFill>
                  <a:srgbClr val="4F5866"/>
                </a:solidFill>
                <a:latin typeface="Microsoft YaHei"/>
              </a:rPr>
              <a:t>上传一份合同，让 AI 提取关键条款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150">
                <a:solidFill>
                  <a:srgbClr val="4F5866"/>
                </a:solidFill>
                <a:latin typeface="Microsoft YaHei"/>
              </a:rPr>
              <a:t>上传一个 Excel，让 AI 做一页分析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150">
                <a:solidFill>
                  <a:srgbClr val="4F5866"/>
                </a:solidFill>
                <a:latin typeface="Microsoft YaHei"/>
              </a:rPr>
              <a:t>上传一份材料，让 AI 生成 PPT 初稿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903720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不要问 AI 会不会替代我们；先问哪些重复工作可以不再手动完成。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63056"/>
                </a:solidFill>
                <a:latin typeface="Microsoft YaHe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F5866"/>
                </a:solidFill>
                <a:latin typeface="Microsoft YaHei"/>
              </a:rPr>
              <a:t>欢迎交流：哪些法务 / IP 工作场景最适合先试？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39776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834640"/>
            <a:ext cx="3977639" cy="54864"/>
          </a:xfrm>
          <a:prstGeom prst="rect">
            <a:avLst/>
          </a:prstGeom>
          <a:solidFill>
            <a:srgbClr val="226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0358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6FCA"/>
                </a:solidFill>
                <a:latin typeface="Microsoft YaHei"/>
              </a:rPr>
              <a:t>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99232"/>
            <a:ext cx="32644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关于能力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56432"/>
            <a:ext cx="35661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哪些文件可以处理？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能不能生成 Excel / PPT？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6FC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能不能处理多个文件？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834640"/>
            <a:ext cx="39776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9240" y="2834640"/>
            <a:ext cx="3977639" cy="54864"/>
          </a:xfrm>
          <a:prstGeom prst="rect">
            <a:avLst/>
          </a:prstGeom>
          <a:solidFill>
            <a:srgbClr val="2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1" y="30358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966A"/>
                </a:solidFill>
                <a:latin typeface="Microsoft YaHe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2999232"/>
            <a:ext cx="32644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关于安全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456432"/>
            <a:ext cx="35661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数据会不会出内网？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文件是否会被别人看到？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5966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为什么不能联网？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834640"/>
            <a:ext cx="39776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2834640"/>
            <a:ext cx="3977639" cy="54864"/>
          </a:xfrm>
          <a:prstGeom prst="rect">
            <a:avLst/>
          </a:prstGeom>
          <a:solidFill>
            <a:srgbClr val="EA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0112" y="30358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8E2A"/>
                </a:solidFill>
                <a:latin typeface="Microsoft YaHe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999232"/>
            <a:ext cx="32644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056"/>
                </a:solidFill>
                <a:latin typeface="Microsoft YaHei"/>
              </a:rPr>
              <a:t>关于使用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456432"/>
            <a:ext cx="35661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怎么写 Prompt？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结果不满意怎么办？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A8E2A"/>
                </a:solidFill>
                <a:latin typeface="Microsoft YaHei"/>
              </a:rPr>
              <a:t>• </a:t>
            </a:r>
            <a:r>
              <a:rPr sz="1050">
                <a:solidFill>
                  <a:srgbClr val="4F5866"/>
                </a:solidFill>
                <a:latin typeface="Microsoft YaHei"/>
              </a:rPr>
              <a:t>哪些场景适合先试？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903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F5866"/>
                </a:solidFill>
                <a:latin typeface="Microsoft YaHei"/>
              </a:rPr>
              <a:t>数字化 AI 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78455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28C99"/>
                </a:solidFill>
                <a:latin typeface="Microsoft YaHei"/>
              </a:rPr>
              <a:t>数字化 AI 团队 ｜ AI Agent 平台培训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78181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828C99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