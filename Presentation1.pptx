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0AE-9C57-01CB-7B30-C1CD8D622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6A997-6CEA-CFA9-07F0-9C41BCE24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AF7AB-92AA-AF95-F78E-B17715B3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4B4E6-9EFC-7088-68A6-64D23B0A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0DD87-4E7A-FA1D-9427-88D29E5B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7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1343-7C34-7032-BD8C-FA2F5B8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1F01E-33AB-DEB4-E3B2-0F8993F47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4959E-74EB-0BB0-7425-DF293C3E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6A92E-7BCD-5D1D-F919-16D3BF7E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85453-EAD7-1217-BDBC-089CDD91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7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1B50-8412-0D99-2240-19D5A3F6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91644-DDA7-5628-44A6-85C42122D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176C0-AE34-742C-4F25-065AEC78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503B5-5126-C457-8E67-F49BA6CC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140FC-96A3-DAC4-5486-1DABCB75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83AB-5C03-B4D2-F2CD-DC4384E7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44B57-3FD4-9DD3-51B9-4ABAF1628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1E9A4-BABE-BC3B-9086-0BD28D65A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5B93A-FFF6-D2DF-8AF4-85488874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3DA0A-DFC7-A222-2C8A-3A95EB6C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DB0BA-040E-BF01-3ABF-029F49EF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6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9793-9F61-3AE6-3ED9-8688F00B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7D77C-9A1D-2C2F-CD5A-B0B5CC868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EE9D1-362A-F153-6A98-E1084EEF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8C082-2954-1EA2-EF4A-1F872A847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892E7F-E3F5-230E-CCB6-B56EC2A99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9382B-975E-E46F-8746-4667738C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74E3F-6A5F-7A6B-C8B6-0DC12FE7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22EA6-33AF-09D0-4461-560722A4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3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E6B5-933F-4437-B82F-11E5CF37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3CA3A-2564-1D2F-63FF-FCC5A686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02F35-225F-D477-8BD9-631F2F1A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B16A9-5877-2E38-6227-34DDFABA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5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7B114-4F93-B7BF-A388-8C596B8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6C709-59A6-0F7E-2728-92224025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41AAC-256C-95FE-6660-65A76EA3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9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87B0-C0B3-A414-5C09-F174E68C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0111-ED6A-A21C-C9AA-0DBF6ECD0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55D60-FAD0-7CA7-E3BD-513D32B5A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8CD70-84E5-EBB6-8730-7CC416E4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CB477-F59D-5F6A-CC86-D9D44CFB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B7DE5-0999-492A-952A-F193F5AF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4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EA9E-5234-2ACD-FB62-37C18D35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E90A1-E4DD-16CD-6F61-AE7582C5B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68C1E-DD34-6CD4-138F-2B3A2434E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7E8BB-3E20-AC30-F82D-F34CBB93C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FA528-5062-8A61-93FF-FE7B24A8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390ED-7376-3AA8-9BA1-821B6F45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2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084A-D818-FB13-637D-782E790A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66149-8082-7C86-8915-920B0DEF2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E5911-DA7D-5B40-4845-39B1AD78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DED45-3A8E-6192-221F-C5125E8F7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21B68-FE4D-F423-B8E5-857DF800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FA27F-0455-2F3E-7829-49C77C922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EE00-B8A4-6590-3735-F7221F7D6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C67F-9CC2-819A-25AF-6358D57B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0A02-57CC-E20F-4566-4CF478BF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E0349-3CA3-87FC-3F79-52F095D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9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E402A-C2D1-C82C-B4FB-183F1788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68928-9207-4D85-F1A4-492E5DC1B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1D65-5357-5270-C429-FB9465D8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F0D3C-0447-6747-AE7F-3B0F0FA26049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98C4D-7D1F-D3B8-C0D8-17A3EC2FF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623B-413D-61FF-E383-88F8CE1D2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A4FC2-22B0-4742-9ABD-A59891551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1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D2C729-351B-D5B0-94B0-7891813BE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056324"/>
              </p:ext>
            </p:extLst>
          </p:nvPr>
        </p:nvGraphicFramePr>
        <p:xfrm>
          <a:off x="1178560" y="683090"/>
          <a:ext cx="10025890" cy="444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178">
                  <a:extLst>
                    <a:ext uri="{9D8B030D-6E8A-4147-A177-3AD203B41FA5}">
                      <a16:colId xmlns:a16="http://schemas.microsoft.com/office/drawing/2014/main" val="707653203"/>
                    </a:ext>
                  </a:extLst>
                </a:gridCol>
                <a:gridCol w="2005178">
                  <a:extLst>
                    <a:ext uri="{9D8B030D-6E8A-4147-A177-3AD203B41FA5}">
                      <a16:colId xmlns:a16="http://schemas.microsoft.com/office/drawing/2014/main" val="473222994"/>
                    </a:ext>
                  </a:extLst>
                </a:gridCol>
                <a:gridCol w="2005178">
                  <a:extLst>
                    <a:ext uri="{9D8B030D-6E8A-4147-A177-3AD203B41FA5}">
                      <a16:colId xmlns:a16="http://schemas.microsoft.com/office/drawing/2014/main" val="3054928568"/>
                    </a:ext>
                  </a:extLst>
                </a:gridCol>
                <a:gridCol w="2005178">
                  <a:extLst>
                    <a:ext uri="{9D8B030D-6E8A-4147-A177-3AD203B41FA5}">
                      <a16:colId xmlns:a16="http://schemas.microsoft.com/office/drawing/2014/main" val="1603440540"/>
                    </a:ext>
                  </a:extLst>
                </a:gridCol>
                <a:gridCol w="2005178">
                  <a:extLst>
                    <a:ext uri="{9D8B030D-6E8A-4147-A177-3AD203B41FA5}">
                      <a16:colId xmlns:a16="http://schemas.microsoft.com/office/drawing/2014/main" val="2830661287"/>
                    </a:ext>
                  </a:extLst>
                </a:gridCol>
              </a:tblGrid>
              <a:tr h="50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场景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物理成因</a:t>
                      </a:r>
                      <a:r>
                        <a:rPr lang="en-US" altLang="ja-JP" sz="1200" b="1"/>
                        <a:t>/</a:t>
                      </a:r>
                      <a:r>
                        <a:rPr lang="ja-JP" altLang="en-US" sz="1200" b="1"/>
                        <a:t>挑战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数值</a:t>
                      </a:r>
                      <a:r>
                        <a:rPr lang="en-US" altLang="ja-JP" sz="1200" b="1"/>
                        <a:t>/</a:t>
                      </a:r>
                      <a:r>
                        <a:rPr lang="ja-JP" altLang="en-US" sz="1200" b="1"/>
                        <a:t>量级（文中给出）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对传统方法的影响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常见权衡</a:t>
                      </a:r>
                      <a:r>
                        <a:rPr lang="en-US" altLang="ja-JP" sz="1200" b="1"/>
                        <a:t>/</a:t>
                      </a:r>
                      <a:r>
                        <a:rPr lang="ja-JP" altLang="en-US" sz="1200" b="1"/>
                        <a:t>后果</a:t>
                      </a:r>
                      <a:endParaRPr lang="ja-JP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439127"/>
                  </a:ext>
                </a:extLst>
              </a:tr>
              <a:tr h="15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逻辑器件（</a:t>
                      </a:r>
                      <a:r>
                        <a:rPr lang="en-GB" sz="1200"/>
                        <a:t>FinFET/GAA </a:t>
                      </a:r>
                      <a:r>
                        <a:rPr lang="ja-JP" altLang="en-US" sz="1200"/>
                        <a:t>等）尺度极限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近场效应显著、衍射极限、表面粗糙散射、反射谱振荡周期极密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CD </a:t>
                      </a:r>
                      <a:r>
                        <a:rPr lang="ja-JP" altLang="en-US" sz="1200"/>
                        <a:t>逼近 </a:t>
                      </a:r>
                      <a:r>
                        <a:rPr lang="en-US" altLang="ja-JP" sz="1200" b="1"/>
                        <a:t>5 </a:t>
                      </a:r>
                      <a:r>
                        <a:rPr lang="en-GB" sz="1200" b="1"/>
                        <a:t>nm</a:t>
                      </a:r>
                      <a:r>
                        <a:rPr lang="en-GB" sz="1200"/>
                        <a:t>；</a:t>
                      </a:r>
                      <a:r>
                        <a:rPr lang="ja-JP" altLang="en-US" sz="1200"/>
                        <a:t>衍射极限 </a:t>
                      </a:r>
                      <a:r>
                        <a:rPr lang="en-US" altLang="ja-JP" sz="1200"/>
                        <a:t>~</a:t>
                      </a:r>
                      <a:r>
                        <a:rPr lang="en-US" altLang="ja-JP" sz="1200" b="1"/>
                        <a:t>200 </a:t>
                      </a:r>
                      <a:r>
                        <a:rPr lang="en-GB" sz="1200" b="1"/>
                        <a:t>nm</a:t>
                      </a:r>
                      <a:r>
                        <a:rPr lang="en-GB" sz="1200"/>
                        <a:t>（</a:t>
                      </a:r>
                      <a:r>
                        <a:rPr lang="ja-JP" altLang="en-US" sz="1200"/>
                        <a:t>可见光）；</a:t>
                      </a:r>
                      <a:r>
                        <a:rPr lang="en-US" altLang="ja-JP" sz="1200" b="1"/>
                        <a:t>1 </a:t>
                      </a:r>
                      <a:r>
                        <a:rPr lang="en-GB" sz="1200" b="1"/>
                        <a:t>nm</a:t>
                      </a:r>
                      <a:r>
                        <a:rPr lang="en-GB" sz="1200"/>
                        <a:t> </a:t>
                      </a:r>
                      <a:r>
                        <a:rPr lang="ja-JP" altLang="en-US" sz="1200"/>
                        <a:t>厚度变化→反射率变化 </a:t>
                      </a:r>
                      <a:r>
                        <a:rPr lang="en-US" altLang="ja-JP" sz="1200" b="1"/>
                        <a:t>&lt;0.1%</a:t>
                      </a:r>
                      <a:r>
                        <a:rPr lang="ja-JP" altLang="en-US" sz="1200"/>
                        <a:t>；</a:t>
                      </a:r>
                      <a:r>
                        <a:rPr lang="en-GB" sz="1200"/>
                        <a:t>ALD </a:t>
                      </a:r>
                      <a:r>
                        <a:rPr lang="ja-JP" altLang="en-US" sz="1200"/>
                        <a:t>粗糙 </a:t>
                      </a:r>
                      <a:r>
                        <a:rPr lang="en-GB" sz="1200" b="1"/>
                        <a:t>RMS ~0.2 nm</a:t>
                      </a:r>
                      <a:r>
                        <a:rPr lang="en-GB" sz="1200"/>
                        <a:t>；</a:t>
                      </a:r>
                      <a:r>
                        <a:rPr lang="ja-JP" altLang="en-US" sz="1200"/>
                        <a:t>需 </a:t>
                      </a:r>
                      <a:r>
                        <a:rPr lang="en-GB" sz="1200" b="1"/>
                        <a:t>sub-Å</a:t>
                      </a:r>
                      <a:r>
                        <a:rPr lang="en-GB" sz="1200"/>
                        <a:t> </a:t>
                      </a:r>
                      <a:r>
                        <a:rPr lang="ja-JP" altLang="en-US" sz="1200"/>
                        <a:t>精度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TMM/RCWA </a:t>
                      </a:r>
                      <a:r>
                        <a:rPr lang="ja-JP" altLang="en-US" sz="1200"/>
                        <a:t>迭代</a:t>
                      </a:r>
                      <a:r>
                        <a:rPr lang="ja-JP" altLang="en-US" sz="1200" b="1"/>
                        <a:t>易陷局部极小</a:t>
                      </a:r>
                      <a:r>
                        <a:rPr lang="ja-JP" altLang="en-US" sz="1200"/>
                        <a:t>；</a:t>
                      </a:r>
                      <a:r>
                        <a:rPr lang="en-GB" sz="1200"/>
                        <a:t>SNR </a:t>
                      </a:r>
                      <a:r>
                        <a:rPr lang="ja-JP" altLang="en-US" sz="1200"/>
                        <a:t>下降、对噪声极敏感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速度慢、误差大；必须更强先验</a:t>
                      </a:r>
                      <a:r>
                        <a:rPr lang="en-US" altLang="ja-JP" sz="1200"/>
                        <a:t>/</a:t>
                      </a:r>
                      <a:r>
                        <a:rPr lang="ja-JP" altLang="en-US" sz="1200"/>
                        <a:t>正则或改为学习型反演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8367"/>
                  </a:ext>
                </a:extLst>
              </a:tr>
              <a:tr h="1112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功率</a:t>
                      </a:r>
                      <a:r>
                        <a:rPr lang="en-US" altLang="ja-JP" sz="1200"/>
                        <a:t>/</a:t>
                      </a:r>
                      <a:r>
                        <a:rPr lang="en-GB" sz="1200"/>
                        <a:t>RF（SiC/GaN）</a:t>
                      </a:r>
                      <a:r>
                        <a:rPr lang="ja-JP" altLang="en-US" sz="1200"/>
                        <a:t>大节距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大周期导致衍射级数指数上升；各向异性要求矢量电磁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周期</a:t>
                      </a:r>
                      <a:r>
                        <a:rPr lang="el-GR" sz="1200" b="1"/>
                        <a:t>μ</a:t>
                      </a:r>
                      <a:r>
                        <a:rPr lang="en-GB" sz="1200" b="1"/>
                        <a:t>m~</a:t>
                      </a:r>
                      <a:r>
                        <a:rPr lang="ja-JP" altLang="en-US" sz="1200" b="1"/>
                        <a:t>数十 </a:t>
                      </a:r>
                      <a:r>
                        <a:rPr lang="el-GR" sz="1200" b="1"/>
                        <a:t>μ</a:t>
                      </a:r>
                      <a:r>
                        <a:rPr lang="en-GB" sz="1200" b="1"/>
                        <a:t>m</a:t>
                      </a:r>
                      <a:r>
                        <a:rPr lang="en-GB" sz="1200"/>
                        <a:t>；</a:t>
                      </a:r>
                      <a:r>
                        <a:rPr lang="ja-JP" altLang="en-US" sz="1200"/>
                        <a:t>衍射级数 </a:t>
                      </a:r>
                      <a:r>
                        <a:rPr lang="en-US" altLang="ja-JP" sz="1200" b="1"/>
                        <a:t>±100</a:t>
                      </a:r>
                      <a:r>
                        <a:rPr lang="ja-JP" altLang="en-US" sz="1200"/>
                        <a:t> 阶；内存 </a:t>
                      </a:r>
                      <a:r>
                        <a:rPr lang="en-US" altLang="ja-JP" sz="1200" b="1"/>
                        <a:t>&gt;10 </a:t>
                      </a:r>
                      <a:r>
                        <a:rPr lang="en-GB" sz="1200" b="1"/>
                        <a:t>GB</a:t>
                      </a:r>
                      <a:r>
                        <a:rPr lang="en-GB" sz="1200"/>
                        <a:t>；</a:t>
                      </a:r>
                      <a:r>
                        <a:rPr lang="ja-JP" altLang="en-US" sz="1200"/>
                        <a:t>单仿真</a:t>
                      </a:r>
                      <a:r>
                        <a:rPr lang="ja-JP" altLang="en-US" sz="1200" b="1"/>
                        <a:t>秒→小时</a:t>
                      </a:r>
                      <a:r>
                        <a:rPr lang="ja-JP" altLang="en-US" sz="1200"/>
                        <a:t>；</a:t>
                      </a:r>
                      <a:r>
                        <a:rPr lang="en-GB" sz="1200"/>
                        <a:t>EMT </a:t>
                      </a:r>
                      <a:r>
                        <a:rPr lang="ja-JP" altLang="en-US" sz="1200"/>
                        <a:t>误差可 </a:t>
                      </a:r>
                      <a:r>
                        <a:rPr lang="en-US" altLang="ja-JP" sz="1200" b="1"/>
                        <a:t>~5%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严格电磁仿真</a:t>
                      </a:r>
                      <a:r>
                        <a:rPr lang="ja-JP" altLang="en-US" sz="1200" b="1"/>
                        <a:t>不可实时</a:t>
                      </a:r>
                      <a:r>
                        <a:rPr lang="ja-JP" altLang="en-US" sz="1200"/>
                        <a:t>；优化</a:t>
                      </a:r>
                      <a:r>
                        <a:rPr lang="ja-JP" altLang="en-US" sz="1200" b="1"/>
                        <a:t>难收敛</a:t>
                      </a:r>
                      <a:r>
                        <a:rPr lang="ja-JP" altLang="en-US" sz="1200"/>
                        <a:t>、</a:t>
                      </a:r>
                      <a:r>
                        <a:rPr lang="ja-JP" altLang="en-US" sz="1200" b="1"/>
                        <a:t>耗时</a:t>
                      </a:r>
                      <a:r>
                        <a:rPr lang="ja-JP" altLang="en-US" sz="1200"/>
                        <a:t>且</a:t>
                      </a:r>
                      <a:r>
                        <a:rPr lang="ja-JP" altLang="en-US" sz="1200" b="1"/>
                        <a:t>易局部最优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退而用简化模型（</a:t>
                      </a:r>
                      <a:r>
                        <a:rPr lang="en-GB" sz="1200"/>
                        <a:t>EMT/</a:t>
                      </a:r>
                      <a:r>
                        <a:rPr lang="ja-JP" altLang="en-US" sz="1200"/>
                        <a:t>标量）→</a:t>
                      </a:r>
                      <a:r>
                        <a:rPr lang="ja-JP" altLang="en-US" sz="1200" b="1"/>
                        <a:t>牺牲精度</a:t>
                      </a:r>
                      <a:r>
                        <a:rPr lang="ja-JP" altLang="en-US" sz="1200"/>
                        <a:t>换速度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21813"/>
                  </a:ext>
                </a:extLst>
              </a:tr>
              <a:tr h="1314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存储（</a:t>
                      </a:r>
                      <a:r>
                        <a:rPr lang="en-US" altLang="ja-JP" sz="1200"/>
                        <a:t>3</a:t>
                      </a:r>
                      <a:r>
                        <a:rPr lang="en-GB" sz="1200"/>
                        <a:t>D NAND）HAR </a:t>
                      </a:r>
                      <a:r>
                        <a:rPr lang="ja-JP" altLang="en-US" sz="1200"/>
                        <a:t>衰减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深孔多次反射</a:t>
                      </a:r>
                      <a:r>
                        <a:rPr lang="en-US" altLang="ja-JP" sz="1200"/>
                        <a:t>+</a:t>
                      </a:r>
                      <a:r>
                        <a:rPr lang="ja-JP" altLang="en-US" sz="1200"/>
                        <a:t>吸收致底部信号指数衰减；参数强耦合（锥度</a:t>
                      </a:r>
                      <a:r>
                        <a:rPr lang="en-US" altLang="ja-JP" sz="1200"/>
                        <a:t>/</a:t>
                      </a:r>
                      <a:r>
                        <a:rPr lang="ja-JP" altLang="en-US" sz="1200"/>
                        <a:t>深度</a:t>
                      </a:r>
                      <a:r>
                        <a:rPr lang="en-US" altLang="ja-JP" sz="1200"/>
                        <a:t>/</a:t>
                      </a:r>
                      <a:r>
                        <a:rPr lang="en-GB" sz="1200"/>
                        <a:t>n,k）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层数 </a:t>
                      </a:r>
                      <a:r>
                        <a:rPr lang="en-US" altLang="ja-JP" sz="1200" b="1"/>
                        <a:t>&gt;200</a:t>
                      </a:r>
                      <a:r>
                        <a:rPr lang="ja-JP" altLang="en-US" sz="1200"/>
                        <a:t>；</a:t>
                      </a:r>
                      <a:r>
                        <a:rPr lang="en-GB" sz="1200" b="1"/>
                        <a:t>HAR &gt;50:1（~100:1）</a:t>
                      </a:r>
                      <a:r>
                        <a:rPr lang="en-GB" sz="1200"/>
                        <a:t>；</a:t>
                      </a:r>
                      <a:r>
                        <a:rPr lang="ja-JP" altLang="en-US" sz="1200"/>
                        <a:t>底部光强衰减 </a:t>
                      </a:r>
                      <a:r>
                        <a:rPr lang="en-US" altLang="ja-JP" sz="1200" b="1"/>
                        <a:t>&gt;10⁴</a:t>
                      </a:r>
                      <a:r>
                        <a:rPr lang="ja-JP" altLang="en-US" sz="1200"/>
                        <a:t>；</a:t>
                      </a:r>
                      <a:r>
                        <a:rPr lang="en-GB" sz="1200"/>
                        <a:t>AR&gt;40:1 </a:t>
                      </a:r>
                      <a:r>
                        <a:rPr lang="ja-JP" altLang="en-US" sz="1200"/>
                        <a:t>时底部厚度误差 </a:t>
                      </a:r>
                      <a:r>
                        <a:rPr lang="en-US" altLang="ja-JP" sz="1200" b="1"/>
                        <a:t>&gt;5 </a:t>
                      </a:r>
                      <a:r>
                        <a:rPr lang="en-GB" sz="1200" b="1"/>
                        <a:t>nm</a:t>
                      </a:r>
                      <a:r>
                        <a:rPr lang="en-GB" sz="1200"/>
                        <a:t>；EUV </a:t>
                      </a:r>
                      <a:r>
                        <a:rPr lang="ja-JP" altLang="en-US" sz="1200"/>
                        <a:t>误差可 </a:t>
                      </a:r>
                      <a:r>
                        <a:rPr lang="en-US" altLang="ja-JP" sz="1200" b="1"/>
                        <a:t>&gt;15%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底部层</a:t>
                      </a:r>
                      <a:r>
                        <a:rPr lang="ja-JP" altLang="en-US" sz="1200" b="1"/>
                        <a:t>难以可测</a:t>
                      </a:r>
                      <a:r>
                        <a:rPr lang="ja-JP" altLang="en-US" sz="1200"/>
                        <a:t>；干涉谱振荡</a:t>
                      </a:r>
                      <a:r>
                        <a:rPr lang="ja-JP" altLang="en-US" sz="1200" b="1"/>
                        <a:t>倍增</a:t>
                      </a:r>
                      <a:r>
                        <a:rPr lang="en-US" altLang="ja-JP" sz="1200" b="1"/>
                        <a:t>/</a:t>
                      </a:r>
                      <a:r>
                        <a:rPr lang="ja-JP" altLang="en-US" sz="1200" b="1"/>
                        <a:t>四倍</a:t>
                      </a:r>
                      <a:r>
                        <a:rPr lang="ja-JP" altLang="en-US" sz="1200"/>
                        <a:t>；传统模型</a:t>
                      </a:r>
                      <a:r>
                        <a:rPr lang="ja-JP" altLang="en-US" sz="1200" b="1"/>
                        <a:t>难解耦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即便上 </a:t>
                      </a:r>
                      <a:r>
                        <a:rPr lang="en-GB" sz="1200" dirty="0"/>
                        <a:t>EUV </a:t>
                      </a:r>
                      <a:r>
                        <a:rPr lang="ja-JP" altLang="en-US" sz="1200"/>
                        <a:t>也受限于</a:t>
                      </a:r>
                      <a:r>
                        <a:rPr lang="ja-JP" altLang="en-US" sz="1200" b="1"/>
                        <a:t>相位衰减</a:t>
                      </a:r>
                      <a:r>
                        <a:rPr lang="en-US" altLang="ja-JP" sz="1200" b="1" dirty="0"/>
                        <a:t>/</a:t>
                      </a:r>
                      <a:r>
                        <a:rPr lang="ja-JP" altLang="en-US" sz="1200" b="1"/>
                        <a:t>成本</a:t>
                      </a:r>
                      <a:r>
                        <a:rPr lang="en-US" altLang="ja-JP" sz="1200" b="1" dirty="0"/>
                        <a:t>/</a:t>
                      </a:r>
                      <a:r>
                        <a:rPr lang="ja-JP" altLang="en-US" sz="1200" b="1"/>
                        <a:t>穿透性</a:t>
                      </a:r>
                      <a:r>
                        <a:rPr lang="ja-JP" altLang="en-US" sz="1200"/>
                        <a:t>，工程上难以普适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41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91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D5205C-246A-4E15-685D-0973D0AE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517984"/>
              </p:ext>
            </p:extLst>
          </p:nvPr>
        </p:nvGraphicFramePr>
        <p:xfrm>
          <a:off x="2032000" y="719666"/>
          <a:ext cx="8128002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68840724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275917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859812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345538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687411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3236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方法 </a:t>
                      </a:r>
                      <a:r>
                        <a:rPr lang="en-US" altLang="ja-JP" sz="1200" b="1" dirty="0"/>
                        <a:t>/ </a:t>
                      </a:r>
                      <a:r>
                        <a:rPr lang="ja-JP" altLang="en-US" sz="1200" b="1"/>
                        <a:t>作者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核心思想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实现流程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性能提升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优点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局限</a:t>
                      </a:r>
                      <a:endParaRPr lang="ja-JP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65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Mudide et al. [27]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ANN </a:t>
                      </a:r>
                      <a:r>
                        <a:rPr lang="ja-JP" altLang="en-US" sz="1200"/>
                        <a:t>前向代理 </a:t>
                      </a:r>
                      <a:r>
                        <a:rPr lang="en-US" altLang="ja-JP" sz="1200"/>
                        <a:t>+ </a:t>
                      </a:r>
                      <a:r>
                        <a:rPr lang="en-GB" sz="1200"/>
                        <a:t>MME</a:t>
                      </a:r>
                      <a:r>
                        <a:rPr lang="ja-JP" altLang="en-US" sz="1200"/>
                        <a:t>反演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RCWA</a:t>
                      </a:r>
                      <a:r>
                        <a:rPr lang="ja-JP" altLang="en-US" sz="1200"/>
                        <a:t>生成 → 训练</a:t>
                      </a:r>
                      <a:r>
                        <a:rPr lang="en-GB" sz="1200"/>
                        <a:t>ANN → </a:t>
                      </a:r>
                      <a:r>
                        <a:rPr lang="ja-JP" altLang="en-US" sz="1200"/>
                        <a:t>冻结权重 → 梯度反演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全片倾角：小时 → 秒</a:t>
                      </a:r>
                      <a:r>
                        <a:rPr lang="ja-JP" altLang="en-US" sz="1200"/>
                        <a:t>；梯度计算</a:t>
                      </a:r>
                      <a:r>
                        <a:rPr lang="en-US" altLang="ja-JP" sz="1200" b="1"/>
                        <a:t>1000×</a:t>
                      </a:r>
                      <a:r>
                        <a:rPr lang="ja-JP" altLang="en-US" sz="1200" b="1"/>
                        <a:t>加速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非破坏、在线 </a:t>
                      </a:r>
                      <a:r>
                        <a:rPr lang="en-GB" sz="1200"/>
                        <a:t>DRIE </a:t>
                      </a:r>
                      <a:r>
                        <a:rPr lang="ja-JP" altLang="en-US" sz="1200"/>
                        <a:t>后测量、参数扫频快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依赖 </a:t>
                      </a:r>
                      <a:r>
                        <a:rPr lang="en-GB" sz="1200"/>
                        <a:t>RCWA </a:t>
                      </a:r>
                      <a:r>
                        <a:rPr lang="ja-JP" altLang="en-US" sz="1200"/>
                        <a:t>数据；侧壁粗糙等未建模因素会传误差；高维输出训练时间长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65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Liu et al. [28]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PCA</a:t>
                      </a:r>
                      <a:r>
                        <a:rPr lang="ja-JP" altLang="en-US" sz="1200"/>
                        <a:t>降维 </a:t>
                      </a:r>
                      <a:r>
                        <a:rPr lang="en-US" altLang="ja-JP" sz="1200"/>
                        <a:t>+ </a:t>
                      </a:r>
                      <a:r>
                        <a:rPr lang="en-GB" sz="1200"/>
                        <a:t>NN</a:t>
                      </a:r>
                      <a:r>
                        <a:rPr lang="ja-JP" altLang="en-US" sz="1200"/>
                        <a:t>代理 </a:t>
                      </a:r>
                      <a:r>
                        <a:rPr lang="en-US" altLang="ja-JP" sz="1200"/>
                        <a:t>+ </a:t>
                      </a:r>
                      <a:r>
                        <a:rPr lang="en-GB" sz="1200"/>
                        <a:t>LM</a:t>
                      </a:r>
                      <a:r>
                        <a:rPr lang="ja-JP" altLang="en-US" sz="1200"/>
                        <a:t>迭代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PCA 1455→204</a:t>
                      </a:r>
                      <a:r>
                        <a:rPr lang="ja-JP" altLang="en-US" sz="1200"/>
                        <a:t>维 → </a:t>
                      </a:r>
                      <a:r>
                        <a:rPr lang="en-GB" sz="1200"/>
                        <a:t>NN</a:t>
                      </a:r>
                      <a:r>
                        <a:rPr lang="ja-JP" altLang="en-US" sz="1200"/>
                        <a:t>拟合 → </a:t>
                      </a:r>
                      <a:r>
                        <a:rPr lang="en-GB" sz="1200"/>
                        <a:t>LM</a:t>
                      </a:r>
                      <a:r>
                        <a:rPr lang="ja-JP" altLang="en-US" sz="1200"/>
                        <a:t>反演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b="1"/>
                        <a:t>30×</a:t>
                      </a:r>
                      <a:r>
                        <a:rPr lang="ja-JP" altLang="en-US" sz="1200" b="1"/>
                        <a:t>提速</a:t>
                      </a:r>
                      <a:r>
                        <a:rPr lang="ja-JP" altLang="en-US" sz="1200"/>
                        <a:t>；噪声下误差比 </a:t>
                      </a:r>
                      <a:r>
                        <a:rPr lang="en-GB" sz="1200"/>
                        <a:t>E2E DNN </a:t>
                      </a:r>
                      <a:r>
                        <a:rPr lang="ja-JP" altLang="en-US" sz="1200"/>
                        <a:t>减</a:t>
                      </a:r>
                      <a:r>
                        <a:rPr lang="en-US" altLang="ja-JP" sz="1200" b="1"/>
                        <a:t>10×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抗噪强、训练需求小、泛化更稳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PCA</a:t>
                      </a:r>
                      <a:r>
                        <a:rPr lang="ja-JP" altLang="en-US" sz="1200"/>
                        <a:t>失真风险；迭代受初值影响、易陷局部最优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2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Meng et al. [29]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NN</a:t>
                      </a:r>
                      <a:r>
                        <a:rPr lang="ja-JP" altLang="en-US" sz="1200"/>
                        <a:t>代理用于 </a:t>
                      </a:r>
                      <a:r>
                        <a:rPr lang="en-GB" sz="1200"/>
                        <a:t>DBSA</a:t>
                      </a:r>
                      <a:r>
                        <a:rPr lang="ja-JP" altLang="en-US" sz="1200"/>
                        <a:t>灵敏度分析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PAWN+NN → LHD</a:t>
                      </a:r>
                      <a:r>
                        <a:rPr lang="ja-JP" altLang="en-US" sz="1200"/>
                        <a:t>采样 → 多参数灵敏度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/>
                        <a:t>8+</a:t>
                      </a:r>
                      <a:r>
                        <a:rPr lang="ja-JP" altLang="en-US" sz="1200"/>
                        <a:t>参数耦合分析；指导光谱测角优化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可捕获非线性耦合、指导实验策略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200" b="1"/>
                        <a:t>10⁴</a:t>
                      </a:r>
                      <a:r>
                        <a:rPr lang="ja-JP" altLang="en-US" sz="1200" b="1"/>
                        <a:t>样本，</a:t>
                      </a:r>
                      <a:r>
                        <a:rPr lang="en-US" altLang="ja-JP" sz="1200" b="1"/>
                        <a:t>34</a:t>
                      </a:r>
                      <a:r>
                        <a:rPr lang="en-GB" sz="1200" b="1"/>
                        <a:t>h</a:t>
                      </a:r>
                      <a:r>
                        <a:rPr lang="ja-JP" altLang="en-US" sz="1200"/>
                        <a:t>预计算；噪声放大，需数据清洗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465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整体趋势</a:t>
                      </a:r>
                      <a:endParaRPr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代理模型取代 </a:t>
                      </a:r>
                      <a:r>
                        <a:rPr lang="en-GB" sz="1200"/>
                        <a:t>RCWA </a:t>
                      </a:r>
                      <a:r>
                        <a:rPr lang="ja-JP" altLang="en-US" sz="1200"/>
                        <a:t>加速计量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前向替代 </a:t>
                      </a:r>
                      <a:r>
                        <a:rPr lang="en-US" altLang="ja-JP" sz="1200"/>
                        <a:t>+ </a:t>
                      </a:r>
                      <a:r>
                        <a:rPr lang="ja-JP" altLang="en-US" sz="1200"/>
                        <a:t>反演校正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/>
                        <a:t>秒级参数提取，</a:t>
                      </a:r>
                      <a:r>
                        <a:rPr lang="en-GB" sz="1200" b="1"/>
                        <a:t>MAE &lt; 0.1 nm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快、准、省库、能工业化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高维训练难、域外泛化仍是核心难题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164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93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A13ECB-9BBC-6E33-6F7A-A7EA50EEE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19928"/>
              </p:ext>
            </p:extLst>
          </p:nvPr>
        </p:nvGraphicFramePr>
        <p:xfrm>
          <a:off x="2032000" y="719666"/>
          <a:ext cx="81280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618260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483383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708139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270682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92840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类别</a:t>
                      </a:r>
                      <a:endParaRPr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特点</a:t>
                      </a:r>
                      <a:endParaRPr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技术亮点</a:t>
                      </a:r>
                      <a:endParaRPr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成果</a:t>
                      </a:r>
                      <a:endParaRPr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典型工作</a:t>
                      </a:r>
                      <a:endParaRPr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56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早期逆向网络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少量光谱特征 → </a:t>
                      </a:r>
                      <a:r>
                        <a:rPr lang="en-GB"/>
                        <a:t>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使用有限散射效率输入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初步验证可行性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Wei et al. [35]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63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现代深度网络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全谱</a:t>
                      </a:r>
                      <a:r>
                        <a:rPr lang="en-US" altLang="ja-JP"/>
                        <a:t>/</a:t>
                      </a:r>
                      <a:r>
                        <a:rPr lang="ja-JP" altLang="en-US"/>
                        <a:t>全穆勒矩阵输入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CNN / ResNet，</a:t>
                      </a:r>
                      <a:r>
                        <a:rPr lang="ja-JP" altLang="en-US"/>
                        <a:t>全光谱学习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b="1"/>
                        <a:t>135× </a:t>
                      </a:r>
                      <a:r>
                        <a:rPr lang="ja-JP" altLang="en-US" b="1"/>
                        <a:t>加速；</a:t>
                      </a:r>
                      <a:r>
                        <a:rPr lang="en-GB" b="1"/>
                        <a:t>CD</a:t>
                      </a:r>
                      <a:r>
                        <a:rPr lang="ja-JP" altLang="en-US" b="1"/>
                        <a:t>误差</a:t>
                      </a:r>
                      <a:r>
                        <a:rPr lang="en-US" altLang="ja-JP" b="1"/>
                        <a:t>&lt;5</a:t>
                      </a:r>
                      <a:r>
                        <a:rPr lang="en-GB" b="1"/>
                        <a:t>nm</a:t>
                      </a:r>
                      <a:r>
                        <a:rPr lang="en-GB"/>
                        <a:t>，</a:t>
                      </a:r>
                      <a:r>
                        <a:rPr lang="ja-JP" altLang="en-US"/>
                        <a:t>偏差</a:t>
                      </a:r>
                      <a:r>
                        <a:rPr lang="en-US" altLang="ja-JP"/>
                        <a:t>&lt;3%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 et al. [36], Sabbagh et al. [37]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79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统计</a:t>
                      </a:r>
                      <a:r>
                        <a:rPr lang="en-US" altLang="ja-JP"/>
                        <a:t>+</a:t>
                      </a:r>
                      <a:r>
                        <a:rPr lang="en-GB"/>
                        <a:t>R&amp;R</a:t>
                      </a:r>
                      <a:r>
                        <a:rPr lang="ja-JP" altLang="en-US"/>
                        <a:t>验证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工业计量可靠性证明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Gage R&amp;R &gt; SEM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工业计量质量超越 </a:t>
                      </a:r>
                      <a:r>
                        <a:rPr lang="en-GB"/>
                        <a:t>SEM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Bahrenberg [38]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70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材料与薄膜反演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ANN </a:t>
                      </a:r>
                      <a:r>
                        <a:rPr lang="ja-JP" altLang="en-US"/>
                        <a:t>反演多参数材料特性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多目标回归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b="1"/>
                        <a:t>0.3%</a:t>
                      </a:r>
                      <a:r>
                        <a:rPr lang="ja-JP" altLang="en-US" b="1"/>
                        <a:t>体积分数误差；</a:t>
                      </a:r>
                      <a:r>
                        <a:rPr lang="en-US" altLang="ja-JP" b="1"/>
                        <a:t>4.8</a:t>
                      </a:r>
                      <a:r>
                        <a:rPr lang="en-GB" b="1"/>
                        <a:t>nm</a:t>
                      </a:r>
                      <a:r>
                        <a:rPr lang="ja-JP" altLang="en-US" b="1"/>
                        <a:t>厚度误差</a:t>
                      </a:r>
                      <a:endParaRPr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Kfoury [42]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79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模板自由结构重建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SGNN + </a:t>
                      </a:r>
                      <a:r>
                        <a:rPr lang="ja-JP" altLang="en-US"/>
                        <a:t>草图引导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光谱 → 轮廓，无模板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1"/>
                        <a:t>未知结构泛化强</a:t>
                      </a:r>
                      <a:endParaRPr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Liu et al. [44]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78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工业过程监控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OES+</a:t>
                      </a:r>
                      <a:r>
                        <a:rPr lang="ja-JP" altLang="en-US"/>
                        <a:t>光谱 → 工艺参数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工艺信号融合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预测刻蚀速率、缺陷、</a:t>
                      </a:r>
                      <a:r>
                        <a:rPr lang="en-GB"/>
                        <a:t>SWA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[45–55]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913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27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D5F0AC-50F7-0A0B-623D-EDFE054A5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47863"/>
              </p:ext>
            </p:extLst>
          </p:nvPr>
        </p:nvGraphicFramePr>
        <p:xfrm>
          <a:off x="699008" y="189992"/>
          <a:ext cx="10793984" cy="6027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496">
                  <a:extLst>
                    <a:ext uri="{9D8B030D-6E8A-4147-A177-3AD203B41FA5}">
                      <a16:colId xmlns:a16="http://schemas.microsoft.com/office/drawing/2014/main" val="1960623357"/>
                    </a:ext>
                  </a:extLst>
                </a:gridCol>
                <a:gridCol w="2698496">
                  <a:extLst>
                    <a:ext uri="{9D8B030D-6E8A-4147-A177-3AD203B41FA5}">
                      <a16:colId xmlns:a16="http://schemas.microsoft.com/office/drawing/2014/main" val="3956053483"/>
                    </a:ext>
                  </a:extLst>
                </a:gridCol>
                <a:gridCol w="2698496">
                  <a:extLst>
                    <a:ext uri="{9D8B030D-6E8A-4147-A177-3AD203B41FA5}">
                      <a16:colId xmlns:a16="http://schemas.microsoft.com/office/drawing/2014/main" val="526201028"/>
                    </a:ext>
                  </a:extLst>
                </a:gridCol>
                <a:gridCol w="2698496">
                  <a:extLst>
                    <a:ext uri="{9D8B030D-6E8A-4147-A177-3AD203B41FA5}">
                      <a16:colId xmlns:a16="http://schemas.microsoft.com/office/drawing/2014/main" val="1641937244"/>
                    </a:ext>
                  </a:extLst>
                </a:gridCol>
              </a:tblGrid>
              <a:tr h="33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b="1"/>
                        <a:t>目标参数</a:t>
                      </a:r>
                      <a:endParaRPr lang="ja-JP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b="1"/>
                        <a:t>核心算法与模型</a:t>
                      </a:r>
                      <a:endParaRPr lang="ja-JP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b="1"/>
                        <a:t>结果与讨论</a:t>
                      </a:r>
                      <a:endParaRPr lang="ja-JP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b="1"/>
                        <a:t>局限性</a:t>
                      </a:r>
                      <a:endParaRPr lang="ja-JP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173099"/>
                  </a:ext>
                </a:extLst>
              </a:tr>
              <a:tr h="77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纳米结构轮廓 </a:t>
                      </a:r>
                      <a:r>
                        <a:rPr lang="en-US" altLang="ja-JP" sz="1000"/>
                        <a:t>[44]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草图引导神经网络（</a:t>
                      </a:r>
                      <a:r>
                        <a:rPr lang="en-GB" sz="1000"/>
                        <a:t>SGNN）</a:t>
                      </a:r>
                      <a:r>
                        <a:rPr lang="ja-JP" altLang="en-US" sz="1000"/>
                        <a:t>结合通用轮廓模型，</a:t>
                      </a:r>
                      <a:r>
                        <a:rPr lang="en-GB" sz="1000"/>
                        <a:t>CNN</a:t>
                      </a:r>
                      <a:r>
                        <a:rPr lang="ja-JP" altLang="en-US" sz="1000"/>
                        <a:t>架构，并加入轮廓平滑模块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SGNN </a:t>
                      </a:r>
                      <a:r>
                        <a:rPr lang="ja-JP" altLang="en-US" sz="1000"/>
                        <a:t>对矩形</a:t>
                      </a:r>
                      <a:r>
                        <a:rPr lang="en-US" altLang="ja-JP" sz="1000"/>
                        <a:t>/</a:t>
                      </a:r>
                      <a:r>
                        <a:rPr lang="ja-JP" altLang="en-US" sz="1000"/>
                        <a:t>梯形光栅实现 </a:t>
                      </a:r>
                      <a:r>
                        <a:rPr lang="en-GB" sz="1000"/>
                        <a:t>MAE &lt; 1.5 nm；</a:t>
                      </a:r>
                      <a:r>
                        <a:rPr lang="ja-JP" altLang="en-US" sz="1000"/>
                        <a:t>实验对比显示 </a:t>
                      </a:r>
                      <a:r>
                        <a:rPr lang="en-GB" sz="1000"/>
                        <a:t>MSE </a:t>
                      </a:r>
                      <a:r>
                        <a:rPr lang="ja-JP" altLang="en-US" sz="1000"/>
                        <a:t>低至 </a:t>
                      </a:r>
                      <a:r>
                        <a:rPr lang="en-US" altLang="ja-JP" sz="1000"/>
                        <a:t>1.32 × 10⁻³</a:t>
                      </a:r>
                      <a:r>
                        <a:rPr lang="ja-JP" altLang="en-US" sz="1000"/>
                        <a:t>，相比传统非线性回归和深度学习模型具有更强泛化能力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通用轮廓模型仍受参数化约束，无法完全描述纳米制造中无限多样的几何形态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778990"/>
                  </a:ext>
                </a:extLst>
              </a:tr>
              <a:tr h="63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本地关键尺寸均匀性（</a:t>
                      </a:r>
                      <a:r>
                        <a:rPr lang="en-GB" sz="1000"/>
                        <a:t>LCDU）、</a:t>
                      </a:r>
                      <a:r>
                        <a:rPr lang="ja-JP" altLang="en-US" sz="1000"/>
                        <a:t>临界尺寸（</a:t>
                      </a:r>
                      <a:r>
                        <a:rPr lang="en-GB" sz="1000"/>
                        <a:t>CD）[45]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PCA + </a:t>
                      </a:r>
                      <a:r>
                        <a:rPr lang="ja-JP" altLang="en-US" sz="1000"/>
                        <a:t>监督学习，以 </a:t>
                      </a:r>
                      <a:r>
                        <a:rPr lang="en-GB" sz="1000"/>
                        <a:t>CD-SEM </a:t>
                      </a:r>
                      <a:r>
                        <a:rPr lang="ja-JP" altLang="en-US" sz="1000"/>
                        <a:t>数据作为参考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对 </a:t>
                      </a:r>
                      <a:r>
                        <a:rPr lang="en-US" altLang="ja-JP" sz="1000"/>
                        <a:t>44 </a:t>
                      </a:r>
                      <a:r>
                        <a:rPr lang="en-GB" sz="1000"/>
                        <a:t>nm pitch EUV </a:t>
                      </a:r>
                      <a:r>
                        <a:rPr lang="ja-JP" altLang="en-US" sz="1000"/>
                        <a:t>通孔结构，</a:t>
                      </a:r>
                      <a:r>
                        <a:rPr lang="en-GB" sz="1000"/>
                        <a:t>LCDU </a:t>
                      </a:r>
                      <a:r>
                        <a:rPr lang="ja-JP" altLang="en-US" sz="1000"/>
                        <a:t>与 </a:t>
                      </a:r>
                      <a:r>
                        <a:rPr lang="en-GB" sz="1000"/>
                        <a:t>CD-SEM </a:t>
                      </a:r>
                      <a:r>
                        <a:rPr lang="ja-JP" altLang="en-US" sz="1000"/>
                        <a:t>对比 </a:t>
                      </a:r>
                      <a:r>
                        <a:rPr lang="en-GB" sz="1000"/>
                        <a:t>R² &gt; 0.92，</a:t>
                      </a:r>
                      <a:r>
                        <a:rPr lang="ja-JP" altLang="en-US" sz="1000"/>
                        <a:t>吞吐量提升 </a:t>
                      </a:r>
                      <a:r>
                        <a:rPr lang="en-US" altLang="ja-JP" sz="1000"/>
                        <a:t>40%</a:t>
                      </a:r>
                      <a:r>
                        <a:rPr lang="ja-JP" altLang="en-US" sz="1000"/>
                        <a:t>；支持刻蚀前</a:t>
                      </a:r>
                      <a:r>
                        <a:rPr lang="en-US" altLang="ja-JP" sz="1000"/>
                        <a:t>/</a:t>
                      </a:r>
                      <a:r>
                        <a:rPr lang="ja-JP" altLang="en-US" sz="1000"/>
                        <a:t>后过程对比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在极端曝光</a:t>
                      </a:r>
                      <a:r>
                        <a:rPr lang="en-US" altLang="ja-JP" sz="1000"/>
                        <a:t>/</a:t>
                      </a:r>
                      <a:r>
                        <a:rPr lang="ja-JP" altLang="en-US" sz="1000"/>
                        <a:t>焦深条件下对缺陷噪声敏感；</a:t>
                      </a:r>
                      <a:r>
                        <a:rPr lang="en-GB" sz="1000"/>
                        <a:t>CD-SEM </a:t>
                      </a:r>
                      <a:r>
                        <a:rPr lang="ja-JP" altLang="en-US" sz="1000"/>
                        <a:t>样本量小可能导致统计偏差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313824"/>
                  </a:ext>
                </a:extLst>
              </a:tr>
              <a:tr h="63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金属线电阻、电容 </a:t>
                      </a:r>
                      <a:r>
                        <a:rPr lang="en-US" altLang="ja-JP" sz="1000"/>
                        <a:t>[46]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MLP </a:t>
                      </a:r>
                      <a:r>
                        <a:rPr lang="ja-JP" altLang="en-US" sz="1000"/>
                        <a:t>与传统 </a:t>
                      </a:r>
                      <a:r>
                        <a:rPr lang="en-GB" sz="1000"/>
                        <a:t>OCD </a:t>
                      </a:r>
                      <a:r>
                        <a:rPr lang="ja-JP" altLang="en-US" sz="1000"/>
                        <a:t>模型结合，基于 </a:t>
                      </a:r>
                      <a:r>
                        <a:rPr lang="en-GB" sz="1000"/>
                        <a:t>IMEC N14 </a:t>
                      </a:r>
                      <a:r>
                        <a:rPr lang="ja-JP" altLang="en-US" sz="1000"/>
                        <a:t>工艺数据训练，实现光谱</a:t>
                      </a:r>
                      <a:r>
                        <a:rPr lang="en-US" altLang="ja-JP" sz="1000"/>
                        <a:t>-</a:t>
                      </a:r>
                      <a:r>
                        <a:rPr lang="ja-JP" altLang="en-US" sz="1000"/>
                        <a:t>电性能映射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电阻预测 </a:t>
                      </a:r>
                      <a:r>
                        <a:rPr lang="en-GB" sz="1000"/>
                        <a:t>R² = 0.93，</a:t>
                      </a:r>
                      <a:r>
                        <a:rPr lang="ja-JP" altLang="en-US" sz="1000"/>
                        <a:t>电容预测 </a:t>
                      </a:r>
                      <a:r>
                        <a:rPr lang="en-GB" sz="1000"/>
                        <a:t>R² = 0.97，</a:t>
                      </a:r>
                      <a:r>
                        <a:rPr lang="ja-JP" altLang="en-US" sz="1000"/>
                        <a:t>比传统 </a:t>
                      </a:r>
                      <a:r>
                        <a:rPr lang="en-GB" sz="1000"/>
                        <a:t>RCWA </a:t>
                      </a:r>
                      <a:r>
                        <a:rPr lang="ja-JP" altLang="en-US" sz="1000"/>
                        <a:t>模型精度提升 </a:t>
                      </a:r>
                      <a:r>
                        <a:rPr lang="en-US" altLang="ja-JP" sz="1000"/>
                        <a:t>20%</a:t>
                      </a:r>
                      <a:r>
                        <a:rPr lang="ja-JP" altLang="en-US" sz="1000"/>
                        <a:t>；揭示 </a:t>
                      </a:r>
                      <a:r>
                        <a:rPr lang="en-GB" sz="1000"/>
                        <a:t>spacer </a:t>
                      </a:r>
                      <a:r>
                        <a:rPr lang="ja-JP" altLang="en-US" sz="1000"/>
                        <a:t>厚度与缺陷密度相关性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依赖后端电性测试数据标注；对新材料体系的泛化能力有限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328304"/>
                  </a:ext>
                </a:extLst>
              </a:tr>
              <a:tr h="63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通孔倾角（</a:t>
                      </a:r>
                      <a:r>
                        <a:rPr lang="en-GB" sz="1000"/>
                        <a:t>Tilt-X, Tilt-Y）[47]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MLP + Mueller</a:t>
                      </a:r>
                      <a:r>
                        <a:rPr lang="ja-JP" altLang="en-US" sz="1000"/>
                        <a:t>矩阵分析 </a:t>
                      </a:r>
                      <a:r>
                        <a:rPr lang="en-US" altLang="ja-JP" sz="1000"/>
                        <a:t>+ </a:t>
                      </a:r>
                      <a:r>
                        <a:rPr lang="en-GB" sz="1000"/>
                        <a:t>PCA，</a:t>
                      </a:r>
                      <a:r>
                        <a:rPr lang="ja-JP" altLang="en-US" sz="1000"/>
                        <a:t>对</a:t>
                      </a:r>
                      <a:r>
                        <a:rPr lang="en-US" altLang="ja-JP" sz="1000"/>
                        <a:t>45</a:t>
                      </a:r>
                      <a:r>
                        <a:rPr lang="ja-JP" altLang="en-US" sz="1000"/>
                        <a:t>片晶圆光谱数据训练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倾角测量与 </a:t>
                      </a:r>
                      <a:r>
                        <a:rPr lang="en-GB" sz="1000"/>
                        <a:t>HV-SEM </a:t>
                      </a:r>
                      <a:r>
                        <a:rPr lang="ja-JP" altLang="en-US" sz="1000"/>
                        <a:t>对比 </a:t>
                      </a:r>
                      <a:r>
                        <a:rPr lang="en-GB" sz="1000"/>
                        <a:t>R² &gt; 0.92，3</a:t>
                      </a:r>
                      <a:r>
                        <a:rPr lang="el-GR" sz="1000"/>
                        <a:t>σ</a:t>
                      </a:r>
                      <a:r>
                        <a:rPr lang="ja-JP" altLang="en-US" sz="1000"/>
                        <a:t>精度 </a:t>
                      </a:r>
                      <a:r>
                        <a:rPr lang="en-US" altLang="ja-JP" sz="1000"/>
                        <a:t>&lt; 1.2 </a:t>
                      </a:r>
                      <a:r>
                        <a:rPr lang="en-GB" sz="1000"/>
                        <a:t>nm，</a:t>
                      </a:r>
                      <a:r>
                        <a:rPr lang="ja-JP" altLang="en-US" sz="1000"/>
                        <a:t>实现 </a:t>
                      </a:r>
                      <a:r>
                        <a:rPr lang="en-GB" sz="1000"/>
                        <a:t>inline 3D NAND </a:t>
                      </a:r>
                      <a:r>
                        <a:rPr lang="ja-JP" altLang="en-US" sz="1000"/>
                        <a:t>刻蚀监控吞吐提升 </a:t>
                      </a:r>
                      <a:r>
                        <a:rPr lang="en-US" altLang="ja-JP" sz="1000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高纵深结构中光学信号受侧壁遮挡影响，极端倾角时偏差增加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590354"/>
                  </a:ext>
                </a:extLst>
              </a:tr>
              <a:tr h="77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SiGe </a:t>
                      </a:r>
                      <a:r>
                        <a:rPr lang="ja-JP" altLang="en-US" sz="1000"/>
                        <a:t>点状缺陷密度与垂向位置 </a:t>
                      </a:r>
                      <a:r>
                        <a:rPr lang="en-US" altLang="ja-JP" sz="1000"/>
                        <a:t>[48]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随机森林 </a:t>
                      </a:r>
                      <a:r>
                        <a:rPr lang="en-US" altLang="ja-JP" sz="1000"/>
                        <a:t>/ </a:t>
                      </a:r>
                      <a:r>
                        <a:rPr lang="ja-JP" altLang="en-US" sz="1000"/>
                        <a:t>神经网络，融合散射光谱与 </a:t>
                      </a:r>
                      <a:r>
                        <a:rPr lang="en-GB" sz="1000"/>
                        <a:t>CD-SEM / TEM </a:t>
                      </a:r>
                      <a:r>
                        <a:rPr lang="ja-JP" altLang="en-US" sz="1000"/>
                        <a:t>图像特征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面向 </a:t>
                      </a:r>
                      <a:r>
                        <a:rPr lang="en-GB" sz="1000"/>
                        <a:t>GAA </a:t>
                      </a:r>
                      <a:r>
                        <a:rPr lang="ja-JP" altLang="en-US" sz="1000"/>
                        <a:t>多桥通道结构，缺陷密度预测准确率 </a:t>
                      </a:r>
                      <a:r>
                        <a:rPr lang="en-US" altLang="ja-JP" sz="1000"/>
                        <a:t>&gt; 95%</a:t>
                      </a:r>
                      <a:r>
                        <a:rPr lang="ja-JP" altLang="en-US" sz="1000"/>
                        <a:t>；能解析 </a:t>
                      </a:r>
                      <a:r>
                        <a:rPr lang="en-GB" sz="1000"/>
                        <a:t>spacer </a:t>
                      </a:r>
                      <a:r>
                        <a:rPr lang="ja-JP" altLang="en-US" sz="1000"/>
                        <a:t>厚度与垂向缺陷分布关系（如 </a:t>
                      </a:r>
                      <a:r>
                        <a:rPr lang="en-US" altLang="ja-JP" sz="1000"/>
                        <a:t>40% </a:t>
                      </a:r>
                      <a:r>
                        <a:rPr lang="ja-JP" altLang="en-US" sz="1000"/>
                        <a:t>缺陷集中于硬掩膜下方）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对 </a:t>
                      </a:r>
                      <a:r>
                        <a:rPr lang="en-US" altLang="ja-JP" sz="1000"/>
                        <a:t>&lt;10 </a:t>
                      </a:r>
                      <a:r>
                        <a:rPr lang="en-GB" sz="1000"/>
                        <a:t>nm </a:t>
                      </a:r>
                      <a:r>
                        <a:rPr lang="ja-JP" altLang="en-US" sz="1000"/>
                        <a:t>缺陷的光谱特征提取受限；需高分辨 </a:t>
                      </a:r>
                      <a:r>
                        <a:rPr lang="en-GB" sz="1000"/>
                        <a:t>TEM </a:t>
                      </a:r>
                      <a:r>
                        <a:rPr lang="ja-JP" altLang="en-US" sz="1000"/>
                        <a:t>标注数据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189942"/>
                  </a:ext>
                </a:extLst>
              </a:tr>
              <a:tr h="63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CD、</a:t>
                      </a:r>
                      <a:r>
                        <a:rPr lang="ja-JP" altLang="en-US" sz="1000"/>
                        <a:t>线边粗糙度（</a:t>
                      </a:r>
                      <a:r>
                        <a:rPr lang="en-GB" sz="1000"/>
                        <a:t>LER）[49]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基于 </a:t>
                      </a:r>
                      <a:r>
                        <a:rPr lang="en-GB" sz="1000"/>
                        <a:t>Nova SpectraProbe，Mueller</a:t>
                      </a:r>
                      <a:r>
                        <a:rPr lang="ja-JP" altLang="en-US" sz="1000"/>
                        <a:t>矩阵不对称特征 </a:t>
                      </a:r>
                      <a:r>
                        <a:rPr lang="en-US" altLang="ja-JP" sz="1000"/>
                        <a:t>+ </a:t>
                      </a:r>
                      <a:r>
                        <a:rPr lang="en-GB" sz="1000"/>
                        <a:t>ML </a:t>
                      </a:r>
                      <a:r>
                        <a:rPr lang="ja-JP" altLang="en-US" sz="1000"/>
                        <a:t>回归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EUV </a:t>
                      </a:r>
                      <a:r>
                        <a:rPr lang="ja-JP" altLang="en-US" sz="1000"/>
                        <a:t>光刻 </a:t>
                      </a:r>
                      <a:r>
                        <a:rPr lang="en-US" altLang="ja-JP" sz="1000"/>
                        <a:t>32–40 </a:t>
                      </a:r>
                      <a:r>
                        <a:rPr lang="en-GB" sz="1000"/>
                        <a:t>nm pitch </a:t>
                      </a:r>
                      <a:r>
                        <a:rPr lang="ja-JP" altLang="en-US" sz="1000"/>
                        <a:t>样品，</a:t>
                      </a:r>
                      <a:r>
                        <a:rPr lang="en-GB" sz="1000"/>
                        <a:t>CD </a:t>
                      </a:r>
                      <a:r>
                        <a:rPr lang="ja-JP" altLang="en-US" sz="1000"/>
                        <a:t>和 </a:t>
                      </a:r>
                      <a:r>
                        <a:rPr lang="en-GB" sz="1000"/>
                        <a:t>LER </a:t>
                      </a:r>
                      <a:r>
                        <a:rPr lang="ja-JP" altLang="en-US" sz="1000"/>
                        <a:t>与 </a:t>
                      </a:r>
                      <a:r>
                        <a:rPr lang="en-GB" sz="1000"/>
                        <a:t>AFM/CD-SEM </a:t>
                      </a:r>
                      <a:r>
                        <a:rPr lang="ja-JP" altLang="en-US" sz="1000"/>
                        <a:t>对比 </a:t>
                      </a:r>
                      <a:r>
                        <a:rPr lang="en-GB" sz="1000"/>
                        <a:t>R² = 0.995/0.87；</a:t>
                      </a:r>
                      <a:r>
                        <a:rPr lang="ja-JP" altLang="en-US" sz="1000"/>
                        <a:t>单次测量替代传统四步流程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光谱信噪比限制导致 </a:t>
                      </a:r>
                      <a:r>
                        <a:rPr lang="en-US" altLang="ja-JP" sz="1000"/>
                        <a:t>&lt;2 </a:t>
                      </a:r>
                      <a:r>
                        <a:rPr lang="en-GB" sz="1000"/>
                        <a:t>nm </a:t>
                      </a:r>
                      <a:r>
                        <a:rPr lang="ja-JP" altLang="en-US" sz="1000"/>
                        <a:t>粗糙度测量误差增加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087433"/>
                  </a:ext>
                </a:extLst>
              </a:tr>
              <a:tr h="495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合金成分（如 </a:t>
                      </a:r>
                      <a:r>
                        <a:rPr lang="en-GB" sz="1000"/>
                        <a:t>AuₓAg₁₋ₓ）[50]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MLP，108 </a:t>
                      </a:r>
                      <a:r>
                        <a:rPr lang="ja-JP" altLang="en-US" sz="1000"/>
                        <a:t>维椭偏参数 </a:t>
                      </a:r>
                      <a:r>
                        <a:rPr lang="el-GR" sz="1000"/>
                        <a:t>Ψ/Δ </a:t>
                      </a:r>
                      <a:r>
                        <a:rPr lang="ja-JP" altLang="en-US" sz="1000"/>
                        <a:t>输入，</a:t>
                      </a:r>
                      <a:r>
                        <a:rPr lang="en-US" altLang="ja-JP" sz="1000"/>
                        <a:t>10</a:t>
                      </a:r>
                      <a:r>
                        <a:rPr lang="ja-JP" altLang="en-US" sz="1000"/>
                        <a:t>节点隐藏层；训练集含</a:t>
                      </a:r>
                      <a:r>
                        <a:rPr lang="en-US" altLang="ja-JP" sz="1000"/>
                        <a:t>30</a:t>
                      </a:r>
                      <a:r>
                        <a:rPr lang="ja-JP" altLang="en-US" sz="1000"/>
                        <a:t>对 </a:t>
                      </a:r>
                      <a:r>
                        <a:rPr lang="en-GB" sz="1000"/>
                        <a:t>EDX </a:t>
                      </a:r>
                      <a:r>
                        <a:rPr lang="ja-JP" altLang="en-US" sz="1000"/>
                        <a:t>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Au-Ag </a:t>
                      </a:r>
                      <a:r>
                        <a:rPr lang="ja-JP" altLang="en-US" sz="1000"/>
                        <a:t>合金成分测量 </a:t>
                      </a:r>
                      <a:r>
                        <a:rPr lang="en-GB" sz="1000"/>
                        <a:t>R² = 0.92；</a:t>
                      </a:r>
                      <a:r>
                        <a:rPr lang="ja-JP" altLang="en-US" sz="1000"/>
                        <a:t>空间分辨率达 </a:t>
                      </a:r>
                      <a:r>
                        <a:rPr lang="en-US" altLang="ja-JP" sz="1000"/>
                        <a:t>0.6 </a:t>
                      </a:r>
                      <a:r>
                        <a:rPr lang="en-GB" sz="1000"/>
                        <a:t>mm，</a:t>
                      </a:r>
                      <a:r>
                        <a:rPr lang="ja-JP" altLang="en-US" sz="1000"/>
                        <a:t>可识别成分梯度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数据量少（仅</a:t>
                      </a:r>
                      <a:r>
                        <a:rPr lang="en-US" altLang="ja-JP" sz="1000"/>
                        <a:t>30</a:t>
                      </a:r>
                      <a:r>
                        <a:rPr lang="ja-JP" altLang="en-US" sz="1000"/>
                        <a:t>对样本）；三元体系（如 </a:t>
                      </a:r>
                      <a:r>
                        <a:rPr lang="en-GB" sz="1000"/>
                        <a:t>Au-Ag-Cu）</a:t>
                      </a:r>
                      <a:r>
                        <a:rPr lang="ja-JP" altLang="en-US" sz="1000"/>
                        <a:t>需重新建模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389166"/>
                  </a:ext>
                </a:extLst>
              </a:tr>
              <a:tr h="63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缺陷类型识别 </a:t>
                      </a:r>
                      <a:r>
                        <a:rPr lang="en-US" altLang="ja-JP" sz="1000"/>
                        <a:t>[51]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半解析散射模型（</a:t>
                      </a:r>
                      <a:r>
                        <a:rPr lang="en-GB" sz="1000"/>
                        <a:t>TIS</a:t>
                      </a:r>
                      <a:r>
                        <a:rPr lang="ja-JP" altLang="en-US" sz="1000"/>
                        <a:t>理论）</a:t>
                      </a:r>
                      <a:r>
                        <a:rPr lang="en-US" altLang="ja-JP" sz="1000"/>
                        <a:t>+ </a:t>
                      </a:r>
                      <a:r>
                        <a:rPr lang="en-GB" sz="1000"/>
                        <a:t>MLP，121</a:t>
                      </a:r>
                      <a:r>
                        <a:rPr lang="ja-JP" altLang="en-US" sz="1000"/>
                        <a:t>维光谱输入，</a:t>
                      </a:r>
                      <a:r>
                        <a:rPr lang="en-US" altLang="ja-JP" sz="1000"/>
                        <a:t>10</a:t>
                      </a:r>
                      <a:r>
                        <a:rPr lang="ja-JP" altLang="en-US" sz="1000"/>
                        <a:t>节点隐藏层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界面缺陷 </a:t>
                      </a:r>
                      <a:r>
                        <a:rPr lang="en-GB" sz="1000"/>
                        <a:t>MAE &lt; 0.5 nm；MLP</a:t>
                      </a:r>
                      <a:r>
                        <a:rPr lang="ja-JP" altLang="en-US" sz="1000"/>
                        <a:t>预测基底缺陷 </a:t>
                      </a:r>
                      <a:r>
                        <a:rPr lang="en-GB" sz="1000"/>
                        <a:t>R² = 0.993；</a:t>
                      </a:r>
                      <a:r>
                        <a:rPr lang="ja-JP" altLang="en-US" sz="1000"/>
                        <a:t>推理时间 </a:t>
                      </a:r>
                      <a:r>
                        <a:rPr lang="en-US" altLang="ja-JP" sz="1000"/>
                        <a:t>0.46 </a:t>
                      </a:r>
                      <a:r>
                        <a:rPr lang="en-GB" sz="1000"/>
                        <a:t>ms/</a:t>
                      </a:r>
                      <a:r>
                        <a:rPr lang="ja-JP" altLang="en-US" sz="1000"/>
                        <a:t>次（比库搜索节省成千上万次</a:t>
                      </a:r>
                      <a:r>
                        <a:rPr lang="en-GB" sz="1000"/>
                        <a:t>RCWA</a:t>
                      </a:r>
                      <a:r>
                        <a:rPr lang="ja-JP" altLang="en-US" sz="1000"/>
                        <a:t>计算）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半解析模型不适用复杂埋层缺陷；</a:t>
                      </a:r>
                      <a:r>
                        <a:rPr lang="en-GB" sz="1000"/>
                        <a:t>MLP </a:t>
                      </a:r>
                      <a:r>
                        <a:rPr lang="ja-JP" altLang="en-US" sz="1000"/>
                        <a:t>对非正弦型基底缺陷泛化性能较弱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390865"/>
                  </a:ext>
                </a:extLst>
              </a:tr>
              <a:tr h="495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光栅轮廓类型分类 </a:t>
                      </a:r>
                      <a:r>
                        <a:rPr lang="en-US" altLang="ja-JP" sz="1000"/>
                        <a:t>[52]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MLP，36</a:t>
                      </a:r>
                      <a:r>
                        <a:rPr lang="ja-JP" altLang="en-US" sz="1000"/>
                        <a:t>维光谱强度</a:t>
                      </a:r>
                      <a:r>
                        <a:rPr lang="en-US" altLang="ja-JP" sz="1000"/>
                        <a:t>(</a:t>
                      </a:r>
                      <a:r>
                        <a:rPr lang="en-GB" sz="1000"/>
                        <a:t>Is/Ic)</a:t>
                      </a:r>
                      <a:r>
                        <a:rPr lang="ja-JP" altLang="en-US" sz="1000"/>
                        <a:t>输入，二元编码分类输出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对周期 </a:t>
                      </a:r>
                      <a:r>
                        <a:rPr lang="en-US" altLang="ja-JP" sz="1000"/>
                        <a:t>2 </a:t>
                      </a:r>
                      <a:r>
                        <a:rPr lang="el-GR" sz="1000"/>
                        <a:t>μ</a:t>
                      </a:r>
                      <a:r>
                        <a:rPr lang="en-GB" sz="1000"/>
                        <a:t>m </a:t>
                      </a:r>
                      <a:r>
                        <a:rPr lang="ja-JP" altLang="en-US" sz="1000"/>
                        <a:t>光栅分类准确率 </a:t>
                      </a:r>
                      <a:r>
                        <a:rPr lang="en-US" altLang="ja-JP" sz="1000"/>
                        <a:t>&gt; 96%</a:t>
                      </a:r>
                      <a:r>
                        <a:rPr lang="ja-JP" altLang="en-US" sz="1000"/>
                        <a:t>；辅助光谱模型选择（如梯形模型可将</a:t>
                      </a:r>
                      <a:r>
                        <a:rPr lang="en-GB" sz="1000"/>
                        <a:t>MSE</a:t>
                      </a:r>
                      <a:r>
                        <a:rPr lang="ja-JP" altLang="en-US" sz="1000"/>
                        <a:t>降低</a:t>
                      </a:r>
                      <a:r>
                        <a:rPr lang="en-US" altLang="ja-JP" sz="1000"/>
                        <a:t>40%</a:t>
                      </a:r>
                      <a:r>
                        <a:rPr lang="ja-JP" altLang="en-US" sz="100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仅支持二分类，无法处理混合形貌（例如梯形</a:t>
                      </a:r>
                      <a:r>
                        <a:rPr lang="en-US" altLang="ja-JP" sz="1000" dirty="0"/>
                        <a:t>+</a:t>
                      </a:r>
                      <a:r>
                        <a:rPr lang="ja-JP" altLang="en-US" sz="1000"/>
                        <a:t>圆角）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62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424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55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1413</Words>
  <Application>Microsoft Macintosh PowerPoint</Application>
  <PresentationFormat>Widescreen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Wenhui Zhang (PGR)</dc:creator>
  <cp:lastModifiedBy>Wenhui Zhang (PGR)</cp:lastModifiedBy>
  <cp:revision>1</cp:revision>
  <dcterms:created xsi:type="dcterms:W3CDTF">2025-11-02T15:53:35Z</dcterms:created>
  <dcterms:modified xsi:type="dcterms:W3CDTF">2025-11-02T17:17:56Z</dcterms:modified>
</cp:coreProperties>
</file>