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8"/>
  </p:normalViewPr>
  <p:slideViewPr>
    <p:cSldViewPr snapToGrid="0">
      <p:cViewPr varScale="1">
        <p:scale>
          <a:sx n="88" d="100"/>
          <a:sy n="88" d="100"/>
        </p:scale>
        <p:origin x="17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4ED1B-B4F1-51A5-4664-2EDC93ECE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A6E8F-DB62-A051-DA4C-71367BF11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6B58C-6E46-C352-DE5B-12175C6E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28D14-9D31-3A2F-E0E9-9702A3D9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59CDA-FBFF-049B-84BD-B1F12118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8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3012-27AC-809D-5971-EC28E148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CD87-DFD6-10D1-C9E1-82587C750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2980-77C2-F1D4-0E5A-972F5AA16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F68EE-A7C6-13F5-44A3-6C2A622A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7429E-43A8-FF3A-984B-36A44BCA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5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D617-A238-4D67-CA68-0C9B8F0D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89886-DE5D-6A59-E3E2-76EC06F4D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25BF2-96D5-6FB6-7409-97F3A74E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8C696-08BF-7A60-190C-B77A555D5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550F2-30AF-117B-A05B-01919140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1BC2-8D48-F63E-D2DC-3E1513D0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07445-C552-E52B-A267-8CA0E1286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3A261-C9D5-A777-D5D2-4B2FF9B47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787D9-C773-C71A-CF29-9DC514D6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6CAE2-097C-B6F9-9B49-BC290BFD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0744E-191B-C24E-32EB-AEFF6488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5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A40B-6AC5-A5B3-66E3-2AC340F9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6E8DB-98CE-10C5-F9DF-FF9EEB5DB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72415-246E-7950-328F-72EA2D71C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8E9B98-0369-CE63-CF47-6E96016F8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D33D4-CF2E-CBA7-9751-653652C01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6BEA7-9AFC-FCBC-B41B-6ED4BF90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9BA34C-7CB9-1DF4-EA26-40A89281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477363-DCAB-9992-7411-C129AAD0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42A4C-6DC2-38E2-C86B-B12750CA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B5AA0-B51A-9AD7-00C8-6ECA784B0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C4C49-4215-7BDE-3F45-3D48B9DF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D948F-C94A-2761-0872-B9566AD2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82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1D821-8F34-1C07-0D25-9C6BB7E8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10ED0-CA38-D1CA-FF61-599E6C91D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5BEBD-2D8C-5B38-FBE6-3938F801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7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6CBC-060F-D9AB-57AF-9D75DDD1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80A75-E6A0-B3FB-CADB-82EADDF42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D26F8-4852-43C4-9C07-6EF1A5611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31C29-F390-C2D3-9211-90246FE9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44BAB-F01D-E76F-5AA1-25DADAD82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38781-73FF-CB7C-5C7D-7380AF06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4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82878-754D-590E-9B20-ECA311DA3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115863-FDD1-1263-F666-D8F1A8CB5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70642-A7EF-4CD0-8215-E6CD4995B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38A77-3151-4903-9D74-60AFEF78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51580-AC20-0780-8B9E-ABB985AD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B7FC9-F38E-C30B-E2ED-D5F0BFF4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58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036E-11A2-F772-C99D-FC6F4807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DC330-E8AF-D180-749B-12B037B96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6DD2F-241B-567D-E026-147C03EC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6B647-7C36-900B-74AB-C847A603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EEE03-A6E0-7B55-EC1B-2F9F1CE4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2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B5E61B-8BC2-2E52-1BCC-7365EE2264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6EB22-81A3-EEC3-E227-776614E30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73D57-E318-F42B-9428-F31C88E2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35CE6-5332-9D01-0391-33F6E390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64CFE-FCFB-C6D1-1651-A798FE77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8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94BB2-B0DF-B873-CA06-EB5B7D1F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06E45-E082-99BB-EB5D-0C1746839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F9855-3082-4463-E1DE-CA04FE9D0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FCDFC-8022-D84D-928D-6DB0B6E2959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3518F-F3B6-E625-933A-6EE791EDD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740FB-8EFB-779B-64A0-65F3CF62F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C6F14-7864-1D42-A627-BA702069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4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8F9E23-A750-1934-6F49-5EC4A8176506}"/>
              </a:ext>
            </a:extLst>
          </p:cNvPr>
          <p:cNvSpPr txBox="1"/>
          <p:nvPr/>
        </p:nvSpPr>
        <p:spPr>
          <a:xfrm>
            <a:off x="0" y="2359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🧠 Perception AI </a:t>
            </a:r>
            <a:r>
              <a:rPr lang="ja-JP" altLang="en-US" b="1"/>
              <a:t>感知智能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AE64F0-66E9-EFAA-C496-6BD18F8A2AE8}"/>
              </a:ext>
            </a:extLst>
          </p:cNvPr>
          <p:cNvSpPr txBox="1"/>
          <p:nvPr/>
        </p:nvSpPr>
        <p:spPr>
          <a:xfrm>
            <a:off x="0" y="950040"/>
            <a:ext cx="3962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b="1"/>
              <a:t>关键词</a:t>
            </a:r>
            <a:r>
              <a:rPr lang="ja-JP" altLang="en-US"/>
              <a:t>：识别、感知、推荐</a:t>
            </a:r>
          </a:p>
          <a:p>
            <a:pPr>
              <a:buNone/>
            </a:pPr>
            <a:r>
              <a:rPr lang="ja-JP" altLang="en-US" b="1"/>
              <a:t>典型任务</a:t>
            </a:r>
            <a:r>
              <a:rPr lang="ja-JP" altLang="en-US"/>
              <a:t>：图像识别、语音识别、医学影像、推荐系统</a:t>
            </a:r>
          </a:p>
          <a:p>
            <a:pPr>
              <a:buNone/>
            </a:pPr>
            <a:br>
              <a:rPr lang="ja-JP" altLang="en-US"/>
            </a:br>
            <a:endParaRPr lang="ja-JP" altLang="en-US"/>
          </a:p>
          <a:p>
            <a:pPr>
              <a:buNone/>
            </a:pPr>
            <a:r>
              <a:rPr lang="ja-JP" altLang="en-US" b="1"/>
              <a:t>代表应用 </a:t>
            </a:r>
            <a:r>
              <a:rPr lang="en-US" altLang="ja-JP" b="1" dirty="0"/>
              <a:t>&amp; </a:t>
            </a:r>
            <a:r>
              <a:rPr lang="ja-JP" altLang="en-US" b="1"/>
              <a:t>企业：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视觉识别</a:t>
            </a:r>
            <a:r>
              <a:rPr lang="ja-JP" altLang="en-US"/>
              <a:t>：</a:t>
            </a:r>
            <a:r>
              <a:rPr lang="en-GB" dirty="0"/>
              <a:t>Google Photos、</a:t>
            </a:r>
            <a:r>
              <a:rPr lang="ja-JP" altLang="en-US"/>
              <a:t>商汤科技、旷视、依图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语音识别</a:t>
            </a:r>
            <a:r>
              <a:rPr lang="ja-JP" altLang="en-US"/>
              <a:t>：科大讯飞、</a:t>
            </a:r>
            <a:r>
              <a:rPr lang="en-GB" dirty="0"/>
              <a:t>Amazon </a:t>
            </a:r>
            <a:r>
              <a:rPr lang="en-GB" dirty="0" err="1"/>
              <a:t>Alexa、Google</a:t>
            </a:r>
            <a:r>
              <a:rPr lang="en-GB" dirty="0"/>
              <a:t> Speech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推荐系统</a:t>
            </a:r>
            <a:r>
              <a:rPr lang="ja-JP" altLang="en-US"/>
              <a:t>：</a:t>
            </a:r>
            <a:r>
              <a:rPr lang="en-GB" dirty="0"/>
              <a:t>YouTube Recommender、</a:t>
            </a:r>
            <a:r>
              <a:rPr lang="ja-JP" altLang="en-US"/>
              <a:t>字节跳动推荐算法、</a:t>
            </a:r>
            <a:r>
              <a:rPr lang="en-GB" dirty="0"/>
              <a:t>Netflix</a:t>
            </a:r>
          </a:p>
        </p:txBody>
      </p:sp>
      <p:pic>
        <p:nvPicPr>
          <p:cNvPr id="1026" name="Picture 2" descr="SenseTime | 商汤科技-坚持原创，让AI引领 ...">
            <a:extLst>
              <a:ext uri="{FF2B5EF4-FFF2-40B4-BE49-F238E27FC236}">
                <a16:creationId xmlns:a16="http://schemas.microsoft.com/office/drawing/2014/main" id="{CB029C4D-9BB0-5A80-2AA5-9D998C1B1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48" y="4498384"/>
            <a:ext cx="1815084" cy="50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科大讯飞股份有限公司_百度百科">
            <a:extLst>
              <a:ext uri="{FF2B5EF4-FFF2-40B4-BE49-F238E27FC236}">
                <a16:creationId xmlns:a16="http://schemas.microsoft.com/office/drawing/2014/main" id="{42A80255-FD51-8A10-056B-CC9AD2156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" y="5001154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Alexa Official Site: What is Alexa?">
            <a:extLst>
              <a:ext uri="{FF2B5EF4-FFF2-40B4-BE49-F238E27FC236}">
                <a16:creationId xmlns:a16="http://schemas.microsoft.com/office/drawing/2014/main" id="{64779278-1117-5F09-ACBA-65F05B023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381" y="4449185"/>
            <a:ext cx="1977898" cy="131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22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D47AD4-A50F-7A4B-D6FE-21C4341CA808}"/>
              </a:ext>
            </a:extLst>
          </p:cNvPr>
          <p:cNvSpPr txBox="1"/>
          <p:nvPr/>
        </p:nvSpPr>
        <p:spPr>
          <a:xfrm>
            <a:off x="475488" y="353568"/>
            <a:ext cx="3063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/>
              <a:t>✍️ </a:t>
            </a:r>
            <a:r>
              <a:rPr lang="en-GB" b="1" dirty="0"/>
              <a:t>Generative AI </a:t>
            </a:r>
            <a:r>
              <a:rPr lang="ja-JP" altLang="en-US" b="1"/>
              <a:t>生成式智能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58478-3E28-B870-0F1C-A7C86BD5ED75}"/>
              </a:ext>
            </a:extLst>
          </p:cNvPr>
          <p:cNvSpPr txBox="1"/>
          <p:nvPr/>
        </p:nvSpPr>
        <p:spPr>
          <a:xfrm>
            <a:off x="475488" y="91579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b="1"/>
              <a:t>典型任务</a:t>
            </a:r>
            <a:r>
              <a:rPr lang="ja-JP" altLang="en-US"/>
              <a:t>：</a:t>
            </a:r>
            <a:r>
              <a:rPr lang="en-GB" dirty="0"/>
              <a:t>AIGC、</a:t>
            </a:r>
            <a:r>
              <a:rPr lang="ja-JP" altLang="en-US"/>
              <a:t>文案、营销、设计、影视</a:t>
            </a:r>
          </a:p>
          <a:p>
            <a:pPr>
              <a:buNone/>
            </a:pPr>
            <a:br>
              <a:rPr lang="ja-JP" altLang="en-US"/>
            </a:br>
            <a:endParaRPr lang="ja-JP" altLang="en-US"/>
          </a:p>
          <a:p>
            <a:pPr>
              <a:buNone/>
            </a:pPr>
            <a:r>
              <a:rPr lang="ja-JP" altLang="en-US" b="1"/>
              <a:t>代表应用 </a:t>
            </a:r>
            <a:r>
              <a:rPr lang="en-US" altLang="ja-JP" b="1" dirty="0"/>
              <a:t>&amp; </a:t>
            </a:r>
            <a:r>
              <a:rPr lang="ja-JP" altLang="en-US" b="1"/>
              <a:t>企业：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文本生成</a:t>
            </a:r>
            <a:r>
              <a:rPr lang="ja-JP" altLang="en-US"/>
              <a:t>：</a:t>
            </a:r>
            <a:r>
              <a:rPr lang="en-GB" dirty="0" err="1"/>
              <a:t>ChatGPT、Claude</a:t>
            </a:r>
            <a:r>
              <a:rPr lang="en-GB" dirty="0"/>
              <a:t>、</a:t>
            </a:r>
            <a:r>
              <a:rPr lang="ja-JP" altLang="en-US"/>
              <a:t>通义千问、文心一言、豆包、讯飞星火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图像生成</a:t>
            </a:r>
            <a:r>
              <a:rPr lang="ja-JP" altLang="en-US"/>
              <a:t>：</a:t>
            </a:r>
            <a:r>
              <a:rPr lang="en-GB" dirty="0" err="1"/>
              <a:t>Midjourney、Stable</a:t>
            </a:r>
            <a:r>
              <a:rPr lang="en-GB" dirty="0"/>
              <a:t> </a:t>
            </a:r>
            <a:r>
              <a:rPr lang="en-GB" dirty="0" err="1"/>
              <a:t>Diffusion、Firefly</a:t>
            </a:r>
            <a:r>
              <a:rPr lang="en-GB" dirty="0"/>
              <a:t>、</a:t>
            </a:r>
            <a:r>
              <a:rPr lang="ja-JP" altLang="en-US"/>
              <a:t>智谱清言绘图</a:t>
            </a:r>
            <a:r>
              <a:rPr lang="zh-CN" altLang="en-US" dirty="0"/>
              <a:t>、豆包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视频生成</a:t>
            </a:r>
            <a:r>
              <a:rPr lang="ja-JP" altLang="en-US"/>
              <a:t>：</a:t>
            </a:r>
            <a:r>
              <a:rPr lang="en-GB" dirty="0" err="1"/>
              <a:t>Sora、Pika、Runway</a:t>
            </a:r>
            <a:r>
              <a:rPr lang="en-GB" dirty="0"/>
              <a:t>、</a:t>
            </a:r>
            <a:r>
              <a:rPr lang="ja-JP" altLang="en-US"/>
              <a:t>字节的</a:t>
            </a:r>
            <a:r>
              <a:rPr lang="ja-JP" altLang="en-US" b="1"/>
              <a:t>魔法</a:t>
            </a:r>
            <a:r>
              <a:rPr lang="en-GB" b="1" dirty="0" err="1"/>
              <a:t>VideoCrafter</a:t>
            </a:r>
            <a:r>
              <a:rPr lang="en-GB" dirty="0"/>
              <a:t>、</a:t>
            </a:r>
            <a:r>
              <a:rPr lang="ja-JP" altLang="en-US"/>
              <a:t>腾讯混元</a:t>
            </a:r>
            <a:r>
              <a:rPr lang="en-GB" dirty="0"/>
              <a:t>Sora、</a:t>
            </a:r>
            <a:r>
              <a:rPr lang="ja-JP" altLang="en-US"/>
              <a:t>华为盘古视频</a:t>
            </a:r>
          </a:p>
        </p:txBody>
      </p:sp>
      <p:pic>
        <p:nvPicPr>
          <p:cNvPr id="2054" name="Picture 6" descr="What Is Midjourney AI and How Does It Work? - Valasys Media">
            <a:extLst>
              <a:ext uri="{FF2B5EF4-FFF2-40B4-BE49-F238E27FC236}">
                <a16:creationId xmlns:a16="http://schemas.microsoft.com/office/drawing/2014/main" id="{71907398-8141-AFDF-66A8-CDEC93408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88" y="4316404"/>
            <a:ext cx="2975429" cy="218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nerative AI into Creative Cloud ...">
            <a:extLst>
              <a:ext uri="{FF2B5EF4-FFF2-40B4-BE49-F238E27FC236}">
                <a16:creationId xmlns:a16="http://schemas.microsoft.com/office/drawing/2014/main" id="{171DFC62-7661-2F2F-B479-70B1766B2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088" y="4203192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ow to Access Sora by OpenAI - CometAPI - All AI Models in One API">
            <a:extLst>
              <a:ext uri="{FF2B5EF4-FFF2-40B4-BE49-F238E27FC236}">
                <a16:creationId xmlns:a16="http://schemas.microsoft.com/office/drawing/2014/main" id="{179D23CB-3A72-2FB0-EFF8-A87B17F0D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486" y="686562"/>
            <a:ext cx="3499104" cy="196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腾讯混元3D模型全新升级_VR陀螺">
            <a:extLst>
              <a:ext uri="{FF2B5EF4-FFF2-40B4-BE49-F238E27FC236}">
                <a16:creationId xmlns:a16="http://schemas.microsoft.com/office/drawing/2014/main" id="{E26FA992-7DDC-B959-DF20-509607EC1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093" y="3473348"/>
            <a:ext cx="3987419" cy="303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946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2E30BA-DAAB-4A48-E7E3-7450A22499CC}"/>
              </a:ext>
            </a:extLst>
          </p:cNvPr>
          <p:cNvSpPr txBox="1"/>
          <p:nvPr/>
        </p:nvSpPr>
        <p:spPr>
          <a:xfrm>
            <a:off x="0" y="1018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🧩 Agentic AI </a:t>
            </a:r>
            <a:r>
              <a:rPr lang="ja-JP" altLang="en-US" b="1"/>
              <a:t>代理智能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C6F69-FA0E-E030-ADF8-C7A6CF254326}"/>
              </a:ext>
            </a:extLst>
          </p:cNvPr>
          <p:cNvSpPr txBox="1"/>
          <p:nvPr/>
        </p:nvSpPr>
        <p:spPr>
          <a:xfrm>
            <a:off x="463296" y="656590"/>
            <a:ext cx="61203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b="1"/>
              <a:t>关键词</a:t>
            </a:r>
            <a:r>
              <a:rPr lang="ja-JP" altLang="en-US"/>
              <a:t>：多步推理、自主任务、协作执行</a:t>
            </a:r>
          </a:p>
          <a:p>
            <a:pPr>
              <a:buNone/>
            </a:pPr>
            <a:r>
              <a:rPr lang="ja-JP" altLang="en-US" b="1"/>
              <a:t>典型任务</a:t>
            </a:r>
            <a:r>
              <a:rPr lang="ja-JP" altLang="en-US"/>
              <a:t>：代码助手、客服、自动办公、医疗问答、个人助理</a:t>
            </a:r>
          </a:p>
          <a:p>
            <a:pPr>
              <a:buNone/>
            </a:pPr>
            <a:br>
              <a:rPr lang="ja-JP" altLang="en-US"/>
            </a:br>
            <a:endParaRPr lang="ja-JP" altLang="en-US"/>
          </a:p>
          <a:p>
            <a:pPr>
              <a:buNone/>
            </a:pPr>
            <a:r>
              <a:rPr lang="ja-JP" altLang="en-US" b="1"/>
              <a:t>代表应用 </a:t>
            </a:r>
            <a:r>
              <a:rPr lang="en-US" altLang="ja-JP" b="1" dirty="0"/>
              <a:t>&amp; </a:t>
            </a:r>
            <a:r>
              <a:rPr lang="ja-JP" altLang="en-US" b="1"/>
              <a:t>企业：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代码助手</a:t>
            </a:r>
            <a:r>
              <a:rPr lang="ja-JP" altLang="en-US"/>
              <a:t>：</a:t>
            </a:r>
            <a:r>
              <a:rPr lang="en-GB" dirty="0"/>
              <a:t>GitHub </a:t>
            </a:r>
            <a:r>
              <a:rPr lang="en-GB" dirty="0" err="1"/>
              <a:t>Copilot、Cursor</a:t>
            </a:r>
            <a:r>
              <a:rPr lang="en-GB" dirty="0"/>
              <a:t>、</a:t>
            </a:r>
            <a:r>
              <a:rPr lang="ja-JP" altLang="en-US"/>
              <a:t>腾讯混元</a:t>
            </a:r>
            <a:r>
              <a:rPr lang="en-GB" dirty="0"/>
              <a:t>Code、</a:t>
            </a:r>
            <a:r>
              <a:rPr lang="ja-JP" altLang="en-US"/>
              <a:t>百度</a:t>
            </a:r>
            <a:r>
              <a:rPr lang="en-GB" dirty="0"/>
              <a:t>Comate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办公智能体</a:t>
            </a:r>
            <a:r>
              <a:rPr lang="ja-JP" altLang="en-US"/>
              <a:t>：微软 </a:t>
            </a:r>
            <a:r>
              <a:rPr lang="en-GB" dirty="0"/>
              <a:t>Copilot、</a:t>
            </a:r>
            <a:r>
              <a:rPr lang="ja-JP" altLang="en-US"/>
              <a:t>字节“豆包助手”、通义灵码、飞书妙记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垂类智能体</a:t>
            </a:r>
            <a:r>
              <a:rPr lang="ja-JP" altLang="en-US"/>
              <a:t>：医疗（</a:t>
            </a:r>
            <a:r>
              <a:rPr lang="en-GB" dirty="0"/>
              <a:t>PULSEAI）、</a:t>
            </a:r>
            <a:r>
              <a:rPr lang="ja-JP" altLang="en-US"/>
              <a:t>金融（</a:t>
            </a:r>
            <a:r>
              <a:rPr lang="en-GB" dirty="0" err="1"/>
              <a:t>BloombergGPT</a:t>
            </a:r>
            <a:r>
              <a:rPr lang="en-GB" dirty="0"/>
              <a:t>）、</a:t>
            </a:r>
            <a:r>
              <a:rPr lang="ja-JP" altLang="en-US"/>
              <a:t>教育（学而思</a:t>
            </a:r>
            <a:r>
              <a:rPr lang="en-GB" dirty="0"/>
              <a:t>AI Tutor）</a:t>
            </a:r>
          </a:p>
        </p:txBody>
      </p:sp>
      <p:pic>
        <p:nvPicPr>
          <p:cNvPr id="3074" name="Picture 2" descr="给家里人推荐AI，首选豆包没错｜AI 教程">
            <a:extLst>
              <a:ext uri="{FF2B5EF4-FFF2-40B4-BE49-F238E27FC236}">
                <a16:creationId xmlns:a16="http://schemas.microsoft.com/office/drawing/2014/main" id="{C2C3C24A-DC27-2391-5598-F69A9446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774" y="232928"/>
            <a:ext cx="2393188" cy="410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icrosoft 365 Copilot – Microsoft Adoption">
            <a:extLst>
              <a:ext uri="{FF2B5EF4-FFF2-40B4-BE49-F238E27FC236}">
                <a16:creationId xmlns:a16="http://schemas.microsoft.com/office/drawing/2014/main" id="{ACFFB290-A266-31DA-2B18-92EADD05B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20" y="4496572"/>
            <a:ext cx="3937000" cy="20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通义灵码2.0 全新升级，阿里云正式推出繁星 ...">
            <a:extLst>
              <a:ext uri="{FF2B5EF4-FFF2-40B4-BE49-F238E27FC236}">
                <a16:creationId xmlns:a16="http://schemas.microsoft.com/office/drawing/2014/main" id="{3978A34D-4E19-FF67-5F81-00B6C34DC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748" y="4759198"/>
            <a:ext cx="49911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ntroducing BloombergGPT, Bloomberg's ...">
            <a:extLst>
              <a:ext uri="{FF2B5EF4-FFF2-40B4-BE49-F238E27FC236}">
                <a16:creationId xmlns:a16="http://schemas.microsoft.com/office/drawing/2014/main" id="{7488ED11-501B-EAFB-F990-4D3F91FF1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736" y="286512"/>
            <a:ext cx="2789174" cy="181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GCD Announce Latest Client: PulseAI ...">
            <a:extLst>
              <a:ext uri="{FF2B5EF4-FFF2-40B4-BE49-F238E27FC236}">
                <a16:creationId xmlns:a16="http://schemas.microsoft.com/office/drawing/2014/main" id="{C5CEE331-C5FA-E976-3E6F-AB85B2AA1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962" y="2364750"/>
            <a:ext cx="2471875" cy="129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56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3546A8-E897-2110-3E91-9A53D3C906A2}"/>
              </a:ext>
            </a:extLst>
          </p:cNvPr>
          <p:cNvSpPr txBox="1"/>
          <p:nvPr/>
        </p:nvSpPr>
        <p:spPr>
          <a:xfrm>
            <a:off x="109728" y="1384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🤖 Physical AI </a:t>
            </a:r>
            <a:r>
              <a:rPr lang="ja-JP" altLang="en-US" b="1"/>
              <a:t>具身智能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DCC3A-1ACD-0110-9719-42BF8BE75878}"/>
              </a:ext>
            </a:extLst>
          </p:cNvPr>
          <p:cNvSpPr txBox="1"/>
          <p:nvPr/>
        </p:nvSpPr>
        <p:spPr>
          <a:xfrm>
            <a:off x="243840" y="76510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b="1"/>
              <a:t>关键词</a:t>
            </a:r>
            <a:r>
              <a:rPr lang="ja-JP" altLang="en-US"/>
              <a:t>：物理执行、机器人控制、感知</a:t>
            </a:r>
            <a:r>
              <a:rPr lang="en-US" altLang="ja-JP" dirty="0"/>
              <a:t>-</a:t>
            </a:r>
            <a:r>
              <a:rPr lang="ja-JP" altLang="en-US"/>
              <a:t>决策</a:t>
            </a:r>
            <a:r>
              <a:rPr lang="en-US" altLang="ja-JP" dirty="0"/>
              <a:t>-</a:t>
            </a:r>
            <a:r>
              <a:rPr lang="ja-JP" altLang="en-US"/>
              <a:t>行动</a:t>
            </a:r>
          </a:p>
          <a:p>
            <a:pPr>
              <a:buNone/>
            </a:pPr>
            <a:r>
              <a:rPr lang="ja-JP" altLang="en-US" b="1"/>
              <a:t>典型任务</a:t>
            </a:r>
            <a:r>
              <a:rPr lang="ja-JP" altLang="en-US"/>
              <a:t>：自动驾驶、通用机器人、工业自动化</a:t>
            </a:r>
          </a:p>
          <a:p>
            <a:pPr>
              <a:buNone/>
            </a:pPr>
            <a:br>
              <a:rPr lang="ja-JP" altLang="en-US"/>
            </a:br>
            <a:endParaRPr lang="ja-JP" altLang="en-US"/>
          </a:p>
          <a:p>
            <a:pPr>
              <a:buNone/>
            </a:pPr>
            <a:r>
              <a:rPr lang="ja-JP" altLang="en-US" b="1"/>
              <a:t>代表应用 </a:t>
            </a:r>
            <a:r>
              <a:rPr lang="en-US" altLang="ja-JP" b="1" dirty="0"/>
              <a:t>&amp; </a:t>
            </a:r>
            <a:r>
              <a:rPr lang="ja-JP" altLang="en-US" b="1"/>
              <a:t>企业：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通用机器人</a:t>
            </a:r>
            <a:r>
              <a:rPr lang="ja-JP" altLang="en-US"/>
              <a:t>：</a:t>
            </a:r>
            <a:r>
              <a:rPr lang="en-GB" dirty="0"/>
              <a:t>Tesla </a:t>
            </a:r>
            <a:r>
              <a:rPr lang="en-GB" dirty="0" err="1"/>
              <a:t>Optimus、Figure</a:t>
            </a:r>
            <a:r>
              <a:rPr lang="en-GB" dirty="0"/>
              <a:t> </a:t>
            </a:r>
            <a:r>
              <a:rPr lang="en-GB" dirty="0" err="1"/>
              <a:t>AI、Agility</a:t>
            </a:r>
            <a:r>
              <a:rPr lang="en-GB" dirty="0"/>
              <a:t> </a:t>
            </a:r>
            <a:r>
              <a:rPr lang="en-GB" dirty="0" err="1"/>
              <a:t>Robotics、Unitree</a:t>
            </a:r>
            <a:r>
              <a:rPr lang="en-GB" dirty="0"/>
              <a:t>（</a:t>
            </a:r>
            <a:r>
              <a:rPr lang="ja-JP" altLang="en-US"/>
              <a:t>宇树）、</a:t>
            </a:r>
            <a:r>
              <a:rPr lang="en-GB" dirty="0"/>
              <a:t>Fourier Intelligence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自动驾驶</a:t>
            </a:r>
            <a:r>
              <a:rPr lang="ja-JP" altLang="en-US"/>
              <a:t>：</a:t>
            </a:r>
            <a:r>
              <a:rPr lang="en-GB" dirty="0"/>
              <a:t>Waymo、</a:t>
            </a:r>
            <a:r>
              <a:rPr lang="ja-JP" altLang="en-US"/>
              <a:t>特斯拉</a:t>
            </a:r>
            <a:r>
              <a:rPr lang="en-GB" dirty="0"/>
              <a:t>FSD、</a:t>
            </a:r>
            <a:r>
              <a:rPr lang="ja-JP" altLang="en-US"/>
              <a:t>小鹏</a:t>
            </a:r>
            <a:r>
              <a:rPr lang="en-GB" dirty="0"/>
              <a:t>XNGP、</a:t>
            </a:r>
            <a:r>
              <a:rPr lang="ja-JP" altLang="en-US"/>
              <a:t>华为</a:t>
            </a:r>
            <a:r>
              <a:rPr lang="en-GB" dirty="0"/>
              <a:t>ADS、</a:t>
            </a:r>
            <a:r>
              <a:rPr lang="ja-JP" altLang="en-US"/>
              <a:t>百度</a:t>
            </a:r>
            <a:r>
              <a:rPr lang="en-GB" dirty="0"/>
              <a:t>Apollo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仿生机器人</a:t>
            </a:r>
            <a:r>
              <a:rPr lang="en-US" altLang="ja-JP" b="1" dirty="0"/>
              <a:t>/</a:t>
            </a:r>
            <a:r>
              <a:rPr lang="en-GB" b="1" dirty="0"/>
              <a:t>AI</a:t>
            </a:r>
            <a:r>
              <a:rPr lang="ja-JP" altLang="en-US" b="1"/>
              <a:t>控制系统</a:t>
            </a:r>
            <a:r>
              <a:rPr lang="ja-JP" altLang="en-US"/>
              <a:t>：丰疆科技、达闼机器人、</a:t>
            </a:r>
            <a:r>
              <a:rPr lang="en-GB" dirty="0" err="1"/>
              <a:t>Manus（AI</a:t>
            </a:r>
            <a:r>
              <a:rPr lang="ja-JP" altLang="en-US"/>
              <a:t>驱动的机器人手）</a:t>
            </a:r>
          </a:p>
        </p:txBody>
      </p:sp>
      <p:pic>
        <p:nvPicPr>
          <p:cNvPr id="4098" name="Picture 2" descr="unitreerobotics (Unitree Robotics)">
            <a:extLst>
              <a:ext uri="{FF2B5EF4-FFF2-40B4-BE49-F238E27FC236}">
                <a16:creationId xmlns:a16="http://schemas.microsoft.com/office/drawing/2014/main" id="{2E0EBCC4-B1EA-70D5-CBF0-0724ECCDF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92" y="4161783"/>
            <a:ext cx="4064000" cy="19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Manus人形机械手远程操作、机器人操控和机器学习解决方案_机器人与数据手套-CSDN博客">
            <a:extLst>
              <a:ext uri="{FF2B5EF4-FFF2-40B4-BE49-F238E27FC236}">
                <a16:creationId xmlns:a16="http://schemas.microsoft.com/office/drawing/2014/main" id="{0F5A5963-F3A2-16EE-11B5-7FCE3C0B6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184" y="3904429"/>
            <a:ext cx="3381311" cy="26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特斯拉FSD Beta來台灣了三輛車可以使用最先進系統- CarFun 玩車誌｜玩樂生活、輕鬆懂車">
            <a:extLst>
              <a:ext uri="{FF2B5EF4-FFF2-40B4-BE49-F238E27FC236}">
                <a16:creationId xmlns:a16="http://schemas.microsoft.com/office/drawing/2014/main" id="{CB7D2B60-8E08-D650-251D-0D02C77F7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371" y="513515"/>
            <a:ext cx="4649184" cy="261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华为开发者大会2020：HUAWEI Ads品牌新标识 ...">
            <a:extLst>
              <a:ext uri="{FF2B5EF4-FFF2-40B4-BE49-F238E27FC236}">
                <a16:creationId xmlns:a16="http://schemas.microsoft.com/office/drawing/2014/main" id="{BD730448-3EA8-0024-13ED-3E2BDD08D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108" y="3537857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223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B902497B-FD55-3924-CAD7-32300CC7C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1403350"/>
            <a:ext cx="5410200" cy="4051300"/>
          </a:xfrm>
          <a:prstGeom prst="rect">
            <a:avLst/>
          </a:prstGeom>
        </p:spPr>
      </p:pic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15F49A7E-01D7-0188-F984-F8B26E49F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00" y="1962150"/>
            <a:ext cx="4775200" cy="2933700"/>
          </a:xfrm>
          <a:prstGeom prst="rect">
            <a:avLst/>
          </a:prstGeom>
        </p:spPr>
      </p:pic>
      <p:pic>
        <p:nvPicPr>
          <p:cNvPr id="7" name="Picture 6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99247896-3320-261F-3A7C-A8BEF6230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450" y="2870261"/>
            <a:ext cx="3276600" cy="24765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17A2A1-0F7F-13B2-4575-7DE31E793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92511"/>
            <a:ext cx="4470400" cy="2451100"/>
          </a:xfrm>
          <a:prstGeom prst="rect">
            <a:avLst/>
          </a:prstGeom>
        </p:spPr>
      </p:pic>
      <p:pic>
        <p:nvPicPr>
          <p:cNvPr id="13" name="Picture 12" descr="A diagram of a timeline&#10;&#10;AI-generated content may be incorrect.">
            <a:extLst>
              <a:ext uri="{FF2B5EF4-FFF2-40B4-BE49-F238E27FC236}">
                <a16:creationId xmlns:a16="http://schemas.microsoft.com/office/drawing/2014/main" id="{801DA0EA-0C2F-3575-90A0-37E434ECA3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00" y="285688"/>
            <a:ext cx="7772400" cy="2578223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DCD4F1-EFD7-F189-132F-22C58BCE12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800" y="1397000"/>
            <a:ext cx="5664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8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346</Words>
  <Application>Microsoft Macintosh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Wenhui Zhang (PGR)</dc:creator>
  <cp:lastModifiedBy>Wenhui Zhang (PGR)</cp:lastModifiedBy>
  <cp:revision>1</cp:revision>
  <dcterms:created xsi:type="dcterms:W3CDTF">2025-11-09T16:54:46Z</dcterms:created>
  <dcterms:modified xsi:type="dcterms:W3CDTF">2025-11-09T17:15:02Z</dcterms:modified>
</cp:coreProperties>
</file>